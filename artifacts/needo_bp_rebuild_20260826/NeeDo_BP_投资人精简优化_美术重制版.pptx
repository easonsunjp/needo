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2" r:id="rId8"/>
    <p:sldId id="265" r:id="rId11"/>
    <p:sldId id="266" r:id="rId12"/>
    <p:sldId id="264" r:id="rId10"/>
    <p:sldId id="276" r:id="rId22"/>
    <p:sldId id="277" r:id="rId23"/>
    <p:sldId id="275" r:id="rId21"/>
    <p:sldId id="274" r:id="rId20"/>
    <p:sldId id="273" r:id="rId19"/>
    <p:sldId id="278" r:id="rId24"/>
    <p:sldId id="283" r:id="rId29"/>
    <p:sldId id="280" r:id="rId26"/>
    <p:sldId id="281" r:id="rId27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943"/>
    <a:srgbClr val="00B187"/>
    <a:srgbClr val="D6D2CD"/>
    <a:srgbClr val="F9F4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9" Type="http://schemas.openxmlformats.org/officeDocument/2006/relationships/slide" Target="slides/slide28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營業收入（MJPY）</c:v>
                </c:pt>
              </c:strCache>
            </c:strRef>
          </c:tx>
          <c:spPr>
            <a:solidFill>
              <a:srgbClr val="2E8B6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Y1</c:v>
                </c:pt>
                <c:pt idx="1">
                  <c:v>Y2</c:v>
                </c:pt>
                <c:pt idx="2">
                  <c:v>Y3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267.70499999999998</c:v>
                </c:pt>
                <c:pt idx="1">
                  <c:v>1541.4649999999999</c:v>
                </c:pt>
                <c:pt idx="2">
                  <c:v>4162.5060000000003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FB-1546-842F-8069D00ADD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營業利潤（MJPY）</c:v>
                </c:pt>
              </c:strCache>
            </c:strRef>
          </c:tx>
          <c:spPr>
            <a:solidFill>
              <a:srgbClr val="101A1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Y1</c:v>
                </c:pt>
                <c:pt idx="1">
                  <c:v>Y2</c:v>
                </c:pt>
                <c:pt idx="2">
                  <c:v>Y3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-83.36</c:v>
                </c:pt>
                <c:pt idx="1">
                  <c:v>646.202</c:v>
                </c:pt>
                <c:pt idx="2">
                  <c:v>2351.721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FB-1546-842F-8069D00AD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36D"/>
                </a:solidFill>
                <a:latin typeface="Arial Unicode MS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5E8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36D"/>
                </a:solidFill>
                <a:latin typeface="Arial Unicode MS"/>
              </a:defRPr>
            </a:pPr>
            <a:endParaRPr lang="zh-C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736D"/>
              </a:solidFill>
              <a:latin typeface="Arial Unicode MS"/>
              <a:cs typeface="Arial Unicode MS"/>
            </a:defRPr>
          </a:pPr>
          <a:endParaRPr lang="zh-CN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資金配置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59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212-1448-A5AE-EAB84053CFAE}"/>
              </c:ext>
            </c:extLst>
          </c:dPt>
          <c:dPt>
            <c:idx val="1"/>
            <c:bubble3D val="0"/>
            <c:spPr>
              <a:solidFill>
                <a:srgbClr val="2E8B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12-1448-A5AE-EAB84053CFAE}"/>
              </c:ext>
            </c:extLst>
          </c:dPt>
          <c:dPt>
            <c:idx val="2"/>
            <c:bubble3D val="0"/>
            <c:spPr>
              <a:solidFill>
                <a:srgbClr val="88C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212-1448-A5AE-EAB84053CFAE}"/>
              </c:ext>
            </c:extLst>
          </c:dPt>
          <c:dPt>
            <c:idx val="3"/>
            <c:bubble3D val="0"/>
            <c:spPr>
              <a:solidFill>
                <a:srgbClr val="F39A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212-1448-A5AE-EAB84053CFAE}"/>
              </c:ext>
            </c:extLst>
          </c:dPt>
          <c:cat>
            <c:strRef>
              <c:f>Sheet1!$A$2:$A$5</c:f>
              <c:strCache>
                <c:ptCount val="4"/>
                <c:pt idx="0">
                  <c:v>產品與工程</c:v>
                </c:pt>
                <c:pt idx="1">
                  <c:v>市場／店鋪導入</c:v>
                </c:pt>
                <c:pt idx="2">
                  <c:v>客服／安全／合規</c:v>
                </c:pt>
                <c:pt idx="3">
                  <c:v>營運資金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60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212-1448-A5AE-EAB84053CF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325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erence-style 3D scene" descr="/Users/eason/Documents/New project/assets/needo-roadshow-reference-style/ecosystem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01</a:t>
            </a:r>
          </a:p>
        </p:txBody>
      </p:sp>
      <p:sp>
        <p:nvSpPr>
          <p:cNvPr id="5" name="Text 2"/>
          <p:cNvSpPr/>
          <p:nvPr/>
        </p:nvSpPr>
        <p:spPr>
          <a:xfrm>
            <a:off x="566927" y="1307592"/>
            <a:ext cx="63883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4000" b="1">
                <a:solidFill>
                  <a:srgbClr val="101A16"/>
                </a:solidFill>
                <a:latin typeface="MiSans Heavy"/>
              </a:rPr>
              <a:t>日本高摩擦服務業的</a:t>
            </a:r>
          </a:p>
          <a:p>
            <a:r>
              <a:t>履約與交易基礎設施</a:t>
            </a:r>
          </a:p>
        </p:txBody>
      </p:sp>
      <p:sp>
        <p:nvSpPr>
          <p:cNvPr id="6" name="Text 3"/>
          <p:cNvSpPr/>
          <p:nvPr/>
        </p:nvSpPr>
        <p:spPr>
          <a:xfrm>
            <a:off x="594360" y="2880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NeeDo 海外投資人 Pre-A 融資簡報</a:t>
            </a:r>
          </a:p>
        </p:txBody>
      </p:sp>
      <p:sp>
        <p:nvSpPr>
          <p:cNvPr id="7" name="Pill: 融資 2 億日圓"/>
          <p:cNvSpPr/>
          <p:nvPr/>
        </p:nvSpPr>
        <p:spPr>
          <a:xfrm>
            <a:off x="594360" y="3401568"/>
            <a:ext cx="1325880" cy="310896"/>
          </a:xfrm>
          <a:prstGeom prst="roundRect">
            <a:avLst/>
          </a:prstGeom>
          <a:solidFill>
            <a:srgbClr val="E9F4ED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8" name="Pill label"/>
          <p:cNvSpPr/>
          <p:nvPr/>
        </p:nvSpPr>
        <p:spPr>
          <a:xfrm>
            <a:off x="685800" y="34655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融資 2 億日圓</a:t>
            </a:r>
            <a:endParaRPr lang="en-US" sz="10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Pill: 出讓 10%"/>
          <p:cNvSpPr/>
          <p:nvPr/>
        </p:nvSpPr>
        <p:spPr>
          <a:xfrm>
            <a:off x="2066544" y="3401568"/>
            <a:ext cx="1143000" cy="310896"/>
          </a:xfrm>
          <a:prstGeom prst="roundRect">
            <a:avLst/>
          </a:prstGeom>
          <a:solidFill>
            <a:srgbClr val="E9F4ED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0" name="Pill label"/>
          <p:cNvSpPr/>
          <p:nvPr/>
        </p:nvSpPr>
        <p:spPr>
          <a:xfrm>
            <a:off x="2157984" y="34655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出讓 10%</a:t>
            </a:r>
            <a:endParaRPr lang="en-US" sz="10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Pill: Pre-A"/>
          <p:cNvSpPr/>
          <p:nvPr/>
        </p:nvSpPr>
        <p:spPr>
          <a:xfrm>
            <a:off x="3355848" y="3401568"/>
            <a:ext cx="960120" cy="310896"/>
          </a:xfrm>
          <a:prstGeom prst="roundRect">
            <a:avLst/>
          </a:prstGeom>
          <a:solidFill>
            <a:srgbClr val="E9F4ED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2" name="Pill label"/>
          <p:cNvSpPr/>
          <p:nvPr/>
        </p:nvSpPr>
        <p:spPr>
          <a:xfrm>
            <a:off x="3447288" y="346557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Pre-A</a:t>
            </a:r>
            <a:endParaRPr lang="en-US" sz="10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94360" y="52760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E8B62"/>
                </a:solidFill>
                <a:latin typeface="MiSans Semibold" pitchFamily="2" charset="-122"/>
                <a:ea typeface="MiSans Semibold" pitchFamily="2" charset="-122"/>
                <a:cs typeface="Arial Unicode MS" pitchFamily="34" charset="-120"/>
              </a:rPr>
              <a:t>讓服務被看見、被選擇、被完成、被分配</a:t>
            </a:r>
            <a:endParaRPr lang="en-US" sz="1400" b="1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94360" y="5650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2026 年｜僅供投資人討論</a:t>
            </a:r>
            <a:endParaRPr lang="en-US" sz="9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NeeDo wordmark">
            <a:extLst>
              <a:ext uri="{FF2B5EF4-FFF2-40B4-BE49-F238E27FC236}">
                <a16:creationId xmlns:a16="http://schemas.microsoft.com/office/drawing/2014/main" id="{E317B858-76AF-F79D-AB03-599988D729A1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6" name="Section label">
            <a:extLst>
              <a:ext uri="{FF2B5EF4-FFF2-40B4-BE49-F238E27FC236}">
                <a16:creationId xmlns:a16="http://schemas.microsoft.com/office/drawing/2014/main" id="{630FDB21-8C34-D2C1-EBA0-5387D5C18EFB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erence-style 3D scene" descr="/Users/eason/Documents/New project/assets/needo-roadshow-reference-style/market-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NeeDo wordmark"/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4" name="Section label"/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  <p:sp>
        <p:nvSpPr>
          <p:cNvPr id="5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02</a:t>
            </a:r>
          </a:p>
        </p:txBody>
      </p:sp>
      <p:sp>
        <p:nvSpPr>
          <p:cNvPr id="6" name="Slide title"/>
          <p:cNvSpPr/>
          <p:nvPr/>
        </p:nvSpPr>
        <p:spPr>
          <a:xfrm>
            <a:off x="502920" y="868680"/>
            <a:ext cx="10954513" cy="7918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2 億日圓，驗證日本服務交易的單城可複製模型</a:t>
            </a:r>
          </a:p>
        </p:txBody>
      </p:sp>
      <p:sp>
        <p:nvSpPr>
          <p:cNvPr id="7" name="Card: 本輪融資摘要"/>
          <p:cNvSpPr/>
          <p:nvPr/>
        </p:nvSpPr>
        <p:spPr>
          <a:xfrm>
            <a:off x="502920" y="1490472"/>
            <a:ext cx="4572000" cy="3054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Card title"/>
          <p:cNvSpPr/>
          <p:nvPr/>
        </p:nvSpPr>
        <p:spPr>
          <a:xfrm>
            <a:off x="704088" y="1909872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A16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本輪融資摘要</a:t>
            </a:r>
            <a:endParaRPr lang="en-US" sz="19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9" name="Card body"/>
          <p:cNvSpPr/>
          <p:nvPr/>
        </p:nvSpPr>
        <p:spPr>
          <a:xfrm>
            <a:off x="704088" y="2348784"/>
            <a:ext cx="4169664" cy="1933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前 A 輪｜出讓 10% 股權</a:t>
            </a:r>
            <a:endParaRPr lang="en-US" sz="130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投前估值 18 億日圓｜投後估值 20 億日圓</a:t>
            </a:r>
            <a:endParaRPr lang="en-US" sz="130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endParaRPr lang="en-US" sz="130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收入核心</a:t>
            </a:r>
            <a:endParaRPr lang="en-US" sz="130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固定 SaaS 月費＋每筆完成預約費</a:t>
            </a:r>
            <a:endParaRPr lang="en-US" sz="130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CPS 與增值服務待真實交易驗證</a:t>
            </a:r>
            <a:endParaRPr lang="en-US" sz="130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endParaRPr lang="en-US" sz="130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融資目標</a:t>
            </a:r>
            <a:endParaRPr lang="en-US" sz="130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正式產品化、供給密度、商業驗證與合規安全</a:t>
            </a:r>
            <a:endParaRPr lang="en-US" sz="13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Hero number"/>
          <p:cNvSpPr/>
          <p:nvPr/>
        </p:nvSpPr>
        <p:spPr>
          <a:xfrm>
            <a:off x="749808" y="4709160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2E8B62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100+</a:t>
            </a:r>
            <a:endParaRPr lang="en-US" sz="43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1" name="Hero label"/>
          <p:cNvSpPr/>
          <p:nvPr/>
        </p:nvSpPr>
        <p:spPr>
          <a:xfrm>
            <a:off x="749808" y="5312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店鋪使用意向</a:t>
            </a:r>
            <a:endParaRPr lang="en-US" sz="125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2" name="Hero detail"/>
          <p:cNvSpPr/>
          <p:nvPr/>
        </p:nvSpPr>
        <p:spPr>
          <a:xfrm>
            <a:off x="749808" y="555406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非簽約／非營收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Hero number"/>
          <p:cNvSpPr/>
          <p:nvPr/>
        </p:nvSpPr>
        <p:spPr>
          <a:xfrm>
            <a:off x="2907792" y="4709160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2E8B62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6,000</a:t>
            </a:r>
            <a:endParaRPr lang="en-US" sz="43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4" name="Hero label"/>
          <p:cNvSpPr/>
          <p:nvPr/>
        </p:nvSpPr>
        <p:spPr>
          <a:xfrm>
            <a:off x="2907792" y="5312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一般方案 Y3 店鋪</a:t>
            </a:r>
            <a:endParaRPr lang="en-US" sz="125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5" name="Hero detail"/>
          <p:cNvSpPr/>
          <p:nvPr/>
        </p:nvSpPr>
        <p:spPr>
          <a:xfrm>
            <a:off x="2907792" y="555406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模型預測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Rounded card"/>
          <p:cNvSpPr/>
          <p:nvPr/>
        </p:nvSpPr>
        <p:spPr>
          <a:xfrm>
            <a:off x="502920" y="5806440"/>
            <a:ext cx="11155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7" name="Card body"/>
          <p:cNvSpPr/>
          <p:nvPr/>
        </p:nvSpPr>
        <p:spPr>
          <a:xfrm>
            <a:off x="704088" y="5916168"/>
            <a:ext cx="10753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核心命題是將分散供給轉成可搜尋、可確認、可調度、可結算的交易；本輪 Pre-A 融資 2億日圓、出讓 10% 股權；Pre-money 18億日圓、Post-money 20億日圓。</a:t>
            </a:r>
            <a:endParaRPr lang="en-US" sz="9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資料來源：S5、S7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erence-style 3D scene" descr="/Users/eason/Documents/New project/assets/needo-roadshow-reference-style/supply-awake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03</a:t>
            </a:r>
          </a:p>
        </p:txBody>
      </p:sp>
      <p:sp>
        <p:nvSpPr>
          <p:cNvPr id="6" name="Slide title"/>
          <p:cNvSpPr/>
          <p:nvPr/>
        </p:nvSpPr>
        <p:spPr>
          <a:xfrm>
            <a:off x="502920" y="868680"/>
            <a:ext cx="10954513" cy="927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為什麼是現在：外國需求放大，服務供給仍高度分散</a:t>
            </a:r>
          </a:p>
        </p:txBody>
      </p:sp>
      <p:sp>
        <p:nvSpPr>
          <p:cNvPr id="7" name="Hero number"/>
          <p:cNvSpPr/>
          <p:nvPr/>
        </p:nvSpPr>
        <p:spPr>
          <a:xfrm>
            <a:off x="379476" y="1874520"/>
            <a:ext cx="201168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2E8B62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4,268萬</a:t>
            </a:r>
            <a:endParaRPr lang="en-US" sz="43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8" name="Hero label"/>
          <p:cNvSpPr/>
          <p:nvPr/>
        </p:nvSpPr>
        <p:spPr>
          <a:xfrm>
            <a:off x="594360" y="24780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2025 年訪日外客</a:t>
            </a:r>
            <a:endParaRPr lang="en-US" sz="12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Hero detail"/>
          <p:cNvSpPr/>
          <p:nvPr/>
        </p:nvSpPr>
        <p:spPr>
          <a:xfrm>
            <a:off x="594360" y="271942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年增 15.8%｜官方統計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Hero number"/>
          <p:cNvSpPr/>
          <p:nvPr/>
        </p:nvSpPr>
        <p:spPr>
          <a:xfrm>
            <a:off x="2606040" y="1874520"/>
            <a:ext cx="201168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2E8B62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412.5萬</a:t>
            </a:r>
            <a:endParaRPr lang="en-US" sz="43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1" name="Hero label"/>
          <p:cNvSpPr/>
          <p:nvPr/>
        </p:nvSpPr>
        <p:spPr>
          <a:xfrm>
            <a:off x="2770632" y="24780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2025 年末在留外國人</a:t>
            </a:r>
            <a:endParaRPr lang="en-US" sz="12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Hero detail"/>
          <p:cNvSpPr/>
          <p:nvPr/>
        </p:nvSpPr>
        <p:spPr>
          <a:xfrm>
            <a:off x="2770632" y="271942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年增 9.5%｜官方統計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Card: 為什麼是現在？"/>
          <p:cNvSpPr/>
          <p:nvPr/>
        </p:nvSpPr>
        <p:spPr>
          <a:xfrm>
            <a:off x="594360" y="3310128"/>
            <a:ext cx="43434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Card title"/>
          <p:cNvSpPr/>
          <p:nvPr/>
        </p:nvSpPr>
        <p:spPr>
          <a:xfrm>
            <a:off x="795528" y="3474720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為什麼是現在？</a:t>
            </a:r>
            <a:endParaRPr lang="en-US" sz="17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Card body"/>
          <p:cNvSpPr/>
          <p:nvPr/>
        </p:nvSpPr>
        <p:spPr>
          <a:xfrm>
            <a:off x="795528" y="3913632"/>
            <a:ext cx="39410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 err="1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生活成本與副業需求推動服務者增加</a:t>
            </a:r>
            <a:r>
              <a:rPr lang="en-US" sz="123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；</a:t>
            </a:r>
          </a:p>
          <a:p>
            <a:pPr marL="0" indent="0" algn="l">
              <a:buNone/>
            </a:pPr>
            <a:r>
              <a:rPr lang="en-US" sz="1230" dirty="0" err="1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傳統中介成本上升，店鋪需要更靈活的供給、排班與履約工具</a:t>
            </a:r>
            <a:r>
              <a:rPr lang="en-US" sz="123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。</a:t>
            </a:r>
            <a:endParaRPr lang="en-US" sz="123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Rounded card"/>
          <p:cNvSpPr/>
          <p:nvPr/>
        </p:nvSpPr>
        <p:spPr>
          <a:xfrm>
            <a:off x="502920" y="5532120"/>
            <a:ext cx="11155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7" name="Card body"/>
          <p:cNvSpPr/>
          <p:nvPr/>
        </p:nvSpPr>
        <p:spPr>
          <a:xfrm>
            <a:off x="704088" y="5641848"/>
            <a:ext cx="10753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2025 年訪日外客 42,683,600 人、年增 15.8%；2025 年末在留外國人 4,125,395 人、年增 9.5%。</a:t>
            </a:r>
            <a:endParaRPr lang="en-US" sz="9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資料來源：S1、S2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9" name="NeeDo wordmark">
            <a:extLst>
              <a:ext uri="{FF2B5EF4-FFF2-40B4-BE49-F238E27FC236}">
                <a16:creationId xmlns:a16="http://schemas.microsoft.com/office/drawing/2014/main" id="{E2332456-B5CB-8210-7137-52BEA4E32B15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20" name="Section label">
            <a:extLst>
              <a:ext uri="{FF2B5EF4-FFF2-40B4-BE49-F238E27FC236}">
                <a16:creationId xmlns:a16="http://schemas.microsoft.com/office/drawing/2014/main" id="{1FF419FC-401F-3EDA-C9AB-D7F7684D814A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04</a:t>
            </a:r>
          </a:p>
        </p:txBody>
      </p:sp>
      <p:sp>
        <p:nvSpPr>
          <p:cNvPr id="5" name="Slide title"/>
          <p:cNvSpPr/>
          <p:nvPr/>
        </p:nvSpPr>
        <p:spPr>
          <a:xfrm>
            <a:off x="502920" y="868680"/>
            <a:ext cx="10954513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日本服務預約仍高度依賴人工協調</a:t>
            </a:r>
          </a:p>
        </p:txBody>
      </p:sp>
      <p:sp>
        <p:nvSpPr>
          <p:cNvPr id="6" name="Flow step 1"/>
          <p:cNvSpPr/>
          <p:nvPr/>
        </p:nvSpPr>
        <p:spPr>
          <a:xfrm>
            <a:off x="530352" y="1874520"/>
            <a:ext cx="157276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  <a:effectLst>
            <a:outerShdw blurRad="15240" dist="50800" dir="2700000" algn="bl" rotWithShape="0">
              <a:srgbClr val="76837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Flow step number"/>
          <p:cNvSpPr/>
          <p:nvPr/>
        </p:nvSpPr>
        <p:spPr>
          <a:xfrm>
            <a:off x="658368" y="2020824"/>
            <a:ext cx="329184" cy="329184"/>
          </a:xfrm>
          <a:prstGeom prst="ellipse">
            <a:avLst/>
          </a:prstGeom>
          <a:solidFill>
            <a:srgbClr val="2E8B62"/>
          </a:solidFill>
          <a:ln w="12700">
            <a:solidFill>
              <a:srgbClr val="2E8B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04088" y="2132304"/>
            <a:ext cx="2377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01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8992" y="223113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客人致電</a:t>
            </a:r>
            <a:endParaRPr lang="en-US" sz="125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8992" y="24414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詢問時間與服務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57984" y="2231136"/>
            <a:ext cx="228600" cy="310896"/>
          </a:xfrm>
          <a:prstGeom prst="chevron">
            <a:avLst/>
          </a:prstGeom>
          <a:solidFill>
            <a:srgbClr val="88CFA8">
              <a:alpha val="90000"/>
            </a:srgbClr>
          </a:solidFill>
          <a:ln w="12700">
            <a:solidFill>
              <a:srgbClr val="88CF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Flow step 2"/>
          <p:cNvSpPr/>
          <p:nvPr/>
        </p:nvSpPr>
        <p:spPr>
          <a:xfrm>
            <a:off x="2432304" y="1874520"/>
            <a:ext cx="157276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  <a:effectLst>
            <a:outerShdw blurRad="15240" dist="50800" dir="2700000" algn="bl" rotWithShape="0">
              <a:srgbClr val="76837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Flow step number"/>
          <p:cNvSpPr/>
          <p:nvPr/>
        </p:nvSpPr>
        <p:spPr>
          <a:xfrm>
            <a:off x="2560320" y="2020824"/>
            <a:ext cx="329184" cy="329184"/>
          </a:xfrm>
          <a:prstGeom prst="ellipse">
            <a:avLst/>
          </a:prstGeom>
          <a:solidFill>
            <a:srgbClr val="2E8B62"/>
          </a:solidFill>
          <a:ln w="12700">
            <a:solidFill>
              <a:srgbClr val="2E8B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606040" y="2132304"/>
            <a:ext cx="2377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02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980944" y="223113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店鋪記錄</a:t>
            </a:r>
            <a:endParaRPr lang="en-US" sz="125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80944" y="24414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紙張／LINE／記憶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059936" y="2231136"/>
            <a:ext cx="228600" cy="310896"/>
          </a:xfrm>
          <a:prstGeom prst="chevron">
            <a:avLst/>
          </a:prstGeom>
          <a:solidFill>
            <a:srgbClr val="88CFA8">
              <a:alpha val="90000"/>
            </a:srgbClr>
          </a:solidFill>
          <a:ln w="12700">
            <a:solidFill>
              <a:srgbClr val="88CF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Flow step 3"/>
          <p:cNvSpPr/>
          <p:nvPr/>
        </p:nvSpPr>
        <p:spPr>
          <a:xfrm>
            <a:off x="4334256" y="1874520"/>
            <a:ext cx="157276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  <a:effectLst>
            <a:outerShdw blurRad="15240" dist="50800" dir="2700000" algn="bl" rotWithShape="0">
              <a:srgbClr val="76837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Flow step number"/>
          <p:cNvSpPr/>
          <p:nvPr/>
        </p:nvSpPr>
        <p:spPr>
          <a:xfrm>
            <a:off x="4462272" y="2020824"/>
            <a:ext cx="329184" cy="329184"/>
          </a:xfrm>
          <a:prstGeom prst="ellipse">
            <a:avLst/>
          </a:prstGeom>
          <a:solidFill>
            <a:srgbClr val="2E8B62"/>
          </a:solidFill>
          <a:ln w="12700">
            <a:solidFill>
              <a:srgbClr val="2E8B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07992" y="2132304"/>
            <a:ext cx="2377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03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82896" y="223113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聯絡服務者</a:t>
            </a:r>
            <a:endParaRPr lang="en-US" sz="125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82896" y="24414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逐一確認空檔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61888" y="2231136"/>
            <a:ext cx="228600" cy="310896"/>
          </a:xfrm>
          <a:prstGeom prst="chevron">
            <a:avLst/>
          </a:prstGeom>
          <a:solidFill>
            <a:srgbClr val="88CFA8">
              <a:alpha val="90000"/>
            </a:srgbClr>
          </a:solidFill>
          <a:ln w="12700">
            <a:solidFill>
              <a:srgbClr val="88CF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Flow step 4"/>
          <p:cNvSpPr/>
          <p:nvPr/>
        </p:nvSpPr>
        <p:spPr>
          <a:xfrm>
            <a:off x="6236208" y="1874520"/>
            <a:ext cx="157276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  <a:effectLst>
            <a:outerShdw blurRad="15240" dist="50800" dir="2700000" algn="bl" rotWithShape="0">
              <a:srgbClr val="76837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Flow step number"/>
          <p:cNvSpPr/>
          <p:nvPr/>
        </p:nvSpPr>
        <p:spPr>
          <a:xfrm>
            <a:off x="6364224" y="2020824"/>
            <a:ext cx="329184" cy="329184"/>
          </a:xfrm>
          <a:prstGeom prst="ellipse">
            <a:avLst/>
          </a:prstGeom>
          <a:solidFill>
            <a:srgbClr val="2E8B62"/>
          </a:solidFill>
          <a:ln w="12700">
            <a:solidFill>
              <a:srgbClr val="2E8B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9944" y="2132304"/>
            <a:ext cx="2377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04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784848" y="223113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確認場所</a:t>
            </a:r>
            <a:endParaRPr lang="en-US" sz="125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84848" y="24414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店內／飯店／上門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863840" y="2231136"/>
            <a:ext cx="228600" cy="310896"/>
          </a:xfrm>
          <a:prstGeom prst="chevron">
            <a:avLst/>
          </a:prstGeom>
          <a:solidFill>
            <a:srgbClr val="88CFA8">
              <a:alpha val="90000"/>
            </a:srgbClr>
          </a:solidFill>
          <a:ln w="12700">
            <a:solidFill>
              <a:srgbClr val="88CF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Flow step 5"/>
          <p:cNvSpPr/>
          <p:nvPr/>
        </p:nvSpPr>
        <p:spPr>
          <a:xfrm>
            <a:off x="8138160" y="1874520"/>
            <a:ext cx="157276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  <a:effectLst>
            <a:outerShdw blurRad="15240" dist="50800" dir="2700000" algn="bl" rotWithShape="0">
              <a:srgbClr val="76837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1" name="Flow step number"/>
          <p:cNvSpPr/>
          <p:nvPr/>
        </p:nvSpPr>
        <p:spPr>
          <a:xfrm>
            <a:off x="8266176" y="2020824"/>
            <a:ext cx="329184" cy="329184"/>
          </a:xfrm>
          <a:prstGeom prst="ellipse">
            <a:avLst/>
          </a:prstGeom>
          <a:solidFill>
            <a:srgbClr val="2E8B62"/>
          </a:solidFill>
          <a:ln w="12700">
            <a:solidFill>
              <a:srgbClr val="2E8B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311896" y="2132304"/>
            <a:ext cx="2377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05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686800" y="223113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回覆客人</a:t>
            </a:r>
            <a:endParaRPr lang="en-US" sz="125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686800" y="24414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重新說明規則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765792" y="2231136"/>
            <a:ext cx="228600" cy="310896"/>
          </a:xfrm>
          <a:prstGeom prst="chevron">
            <a:avLst/>
          </a:prstGeom>
          <a:solidFill>
            <a:srgbClr val="88CFA8">
              <a:alpha val="90000"/>
            </a:srgbClr>
          </a:solidFill>
          <a:ln w="12700">
            <a:solidFill>
              <a:srgbClr val="88CF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Flow step 6"/>
          <p:cNvSpPr/>
          <p:nvPr/>
        </p:nvSpPr>
        <p:spPr>
          <a:xfrm>
            <a:off x="10040112" y="1874520"/>
            <a:ext cx="157276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  <a:effectLst>
            <a:outerShdw blurRad="15240" dist="50800" dir="2700000" algn="bl" rotWithShape="0">
              <a:srgbClr val="76837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Flow step number"/>
          <p:cNvSpPr/>
          <p:nvPr/>
        </p:nvSpPr>
        <p:spPr>
          <a:xfrm>
            <a:off x="10168128" y="2020824"/>
            <a:ext cx="329184" cy="329184"/>
          </a:xfrm>
          <a:prstGeom prst="ellipse">
            <a:avLst/>
          </a:prstGeom>
          <a:solidFill>
            <a:srgbClr val="2E8B62"/>
          </a:solidFill>
          <a:ln w="12700">
            <a:solidFill>
              <a:srgbClr val="2E8B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213848" y="2132304"/>
            <a:ext cx="2377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06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588752" y="223113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變更重來</a:t>
            </a:r>
            <a:endParaRPr lang="en-US" sz="125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588752" y="24414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人力與時間翻倍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1" name="Card: 人工協調的真正成本"/>
          <p:cNvSpPr/>
          <p:nvPr/>
        </p:nvSpPr>
        <p:spPr>
          <a:xfrm>
            <a:off x="960120" y="3319272"/>
            <a:ext cx="10241280" cy="1417320"/>
          </a:xfrm>
          <a:prstGeom prst="roundRect">
            <a:avLst/>
          </a:prstGeom>
          <a:solidFill>
            <a:srgbClr val="E9F4ED"/>
          </a:solidFill>
          <a:ln w="10160">
            <a:solidFill>
              <a:srgbClr val="88CFA8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2" name="Card title"/>
          <p:cNvSpPr/>
          <p:nvPr/>
        </p:nvSpPr>
        <p:spPr>
          <a:xfrm>
            <a:off x="1161288" y="3483864"/>
            <a:ext cx="9838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人工協調的真正成本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43" name="Card body"/>
          <p:cNvSpPr/>
          <p:nvPr/>
        </p:nvSpPr>
        <p:spPr>
          <a:xfrm>
            <a:off x="1161288" y="3922776"/>
            <a:ext cx="98389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形成一有變動，店鋪或中介必須重新聯絡客人、服務者與場所；取消、遲到、延長和替補都會造成重複回撥與資訊不一致。</a:t>
            </a:r>
            <a:endParaRPr lang="en-US" sz="13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4" name="Rounded card"/>
          <p:cNvSpPr/>
          <p:nvPr/>
        </p:nvSpPr>
        <p:spPr>
          <a:xfrm>
            <a:off x="502920" y="5532120"/>
            <a:ext cx="11155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45" name="Card body"/>
          <p:cNvSpPr/>
          <p:nvPr/>
        </p:nvSpPr>
        <p:spPr>
          <a:xfrm>
            <a:off x="704088" y="5641848"/>
            <a:ext cx="10753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高協調度服務仍依賴電話與 LINE 逐一確認空檔、場所、價格與變更；此頁為團隊商談觀察，待接入交易數據驗證。</a:t>
            </a:r>
            <a:endParaRPr lang="en-US" sz="9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6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資料來源：S7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7" name="NeeDo wordmark">
            <a:extLst>
              <a:ext uri="{FF2B5EF4-FFF2-40B4-BE49-F238E27FC236}">
                <a16:creationId xmlns:a16="http://schemas.microsoft.com/office/drawing/2014/main" id="{F223D430-C664-1C71-1828-4BEFBE28F5D2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48" name="Section label">
            <a:extLst>
              <a:ext uri="{FF2B5EF4-FFF2-40B4-BE49-F238E27FC236}">
                <a16:creationId xmlns:a16="http://schemas.microsoft.com/office/drawing/2014/main" id="{14C2A806-BFE2-E042-9C13-94DBA827D855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05</a:t>
            </a:r>
          </a:p>
        </p:txBody>
      </p:sp>
      <p:sp>
        <p:nvSpPr>
          <p:cNvPr id="5" name="Slide title"/>
          <p:cNvSpPr/>
          <p:nvPr/>
        </p:nvSpPr>
        <p:spPr>
          <a:xfrm>
            <a:off x="502920" y="868680"/>
            <a:ext cx="10954513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外國客與臨時需求，是 Request 的天然起點</a:t>
            </a:r>
          </a:p>
        </p:txBody>
      </p:sp>
      <p:sp>
        <p:nvSpPr>
          <p:cNvPr id="6" name="Shape 4"/>
          <p:cNvSpPr/>
          <p:nvPr/>
        </p:nvSpPr>
        <p:spPr>
          <a:xfrm>
            <a:off x="658368" y="1700784"/>
            <a:ext cx="8961120" cy="530352"/>
          </a:xfrm>
          <a:prstGeom prst="roundRect">
            <a:avLst/>
          </a:prstGeom>
          <a:solidFill>
            <a:srgbClr val="0B5943"/>
          </a:solidFill>
          <a:ln w="12700">
            <a:solidFill>
              <a:srgbClr val="0B594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185623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1  找到店鋪｜網站與社群資訊分散</a:t>
            </a:r>
            <a:endParaRPr lang="en-US" sz="12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2450592"/>
            <a:ext cx="7680960" cy="530352"/>
          </a:xfrm>
          <a:prstGeom prst="roundRect">
            <a:avLst/>
          </a:prstGeom>
          <a:solidFill>
            <a:srgbClr val="2E8B62"/>
          </a:solidFill>
          <a:ln w="12700">
            <a:solidFill>
              <a:srgbClr val="2E8B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41248" y="2606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2  確認可接待｜部分店鋪拒絕外國人</a:t>
            </a:r>
            <a:endParaRPr lang="en-US" sz="12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" y="3200400"/>
            <a:ext cx="6400800" cy="530352"/>
          </a:xfrm>
          <a:prstGeom prst="roundRect">
            <a:avLst/>
          </a:prstGeom>
          <a:solidFill>
            <a:srgbClr val="88CFA8"/>
          </a:solidFill>
          <a:ln w="12700">
            <a:solidFill>
              <a:srgbClr val="88CF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3355848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3  完成預約｜只支援日語／電話</a:t>
            </a:r>
            <a:endParaRPr lang="en-US" sz="12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8368" y="3950208"/>
            <a:ext cx="5120640" cy="530352"/>
          </a:xfrm>
          <a:prstGeom prst="roundRect">
            <a:avLst/>
          </a:prstGeom>
          <a:solidFill>
            <a:srgbClr val="B9DCC7"/>
          </a:solidFill>
          <a:ln w="12700">
            <a:solidFill>
              <a:srgbClr val="B9DCC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1248" y="410565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4  安心履約｜價格、場所與取消不透明</a:t>
            </a:r>
            <a:endParaRPr lang="en-US" sz="12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4" name="Hero number"/>
          <p:cNvSpPr/>
          <p:nvPr/>
        </p:nvSpPr>
        <p:spPr>
          <a:xfrm>
            <a:off x="9189720" y="2497226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2E8B62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4,268萬</a:t>
            </a:r>
            <a:endParaRPr lang="en-US" sz="43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5" name="Hero label"/>
          <p:cNvSpPr/>
          <p:nvPr/>
        </p:nvSpPr>
        <p:spPr>
          <a:xfrm>
            <a:off x="9189720" y="300380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訪日外客</a:t>
            </a:r>
            <a:endParaRPr lang="en-US" sz="12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Hero detail"/>
          <p:cNvSpPr/>
          <p:nvPr/>
        </p:nvSpPr>
        <p:spPr>
          <a:xfrm>
            <a:off x="9189720" y="3245207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2025 年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Hero number"/>
          <p:cNvSpPr/>
          <p:nvPr/>
        </p:nvSpPr>
        <p:spPr>
          <a:xfrm>
            <a:off x="9189720" y="3638397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2E8B62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412.5萬</a:t>
            </a:r>
            <a:endParaRPr lang="en-US" sz="43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8" name="Hero label"/>
          <p:cNvSpPr/>
          <p:nvPr/>
        </p:nvSpPr>
        <p:spPr>
          <a:xfrm>
            <a:off x="9189720" y="41449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在留外國人</a:t>
            </a:r>
            <a:endParaRPr lang="en-US" sz="12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9" name="Hero detail"/>
          <p:cNvSpPr/>
          <p:nvPr/>
        </p:nvSpPr>
        <p:spPr>
          <a:xfrm>
            <a:off x="9189720" y="438637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2025 年末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Rounded card"/>
          <p:cNvSpPr/>
          <p:nvPr/>
        </p:nvSpPr>
        <p:spPr>
          <a:xfrm>
            <a:off x="502920" y="5248656"/>
            <a:ext cx="111556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21" name="Card body"/>
          <p:cNvSpPr/>
          <p:nvPr/>
        </p:nvSpPr>
        <p:spPr>
          <a:xfrm>
            <a:off x="704088" y="5669280"/>
            <a:ext cx="10753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多語介面只是入口；客人還需要可預先確認的可接待性、總價、取消規則、場所與改約保障。</a:t>
            </a:r>
            <a:endParaRPr lang="en-US" sz="9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2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資料來源：S1、S2、S7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3" name="NeeDo wordmark">
            <a:extLst>
              <a:ext uri="{FF2B5EF4-FFF2-40B4-BE49-F238E27FC236}">
                <a16:creationId xmlns:a16="http://schemas.microsoft.com/office/drawing/2014/main" id="{49407F44-9ECD-D8E6-81C4-C7054338B4CB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24" name="Section label">
            <a:extLst>
              <a:ext uri="{FF2B5EF4-FFF2-40B4-BE49-F238E27FC236}">
                <a16:creationId xmlns:a16="http://schemas.microsoft.com/office/drawing/2014/main" id="{F0EFF5B9-CCC4-51DF-AB1E-7BAB384C1DEC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4088" y="5340096"/>
            <a:ext cx="10753344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pPr>
            <a:r>
              <a:rPr sz="1150" b="1">
                <a:solidFill>
                  <a:srgbClr val="0B5943"/>
                </a:solidFill>
                <a:latin typeface="MiSans Normal"/>
              </a:rPr>
              <a:t>Booking 服務日本的預約文化；Request 服務預約文化覆蓋不到的即時需求。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08</a:t>
            </a:r>
          </a:p>
        </p:txBody>
      </p:sp>
      <p:sp>
        <p:nvSpPr>
          <p:cNvPr id="5" name="Slide title"/>
          <p:cNvSpPr/>
          <p:nvPr/>
        </p:nvSpPr>
        <p:spPr>
          <a:xfrm>
            <a:off x="502920" y="868680"/>
            <a:ext cx="10954513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競爭格局：工具、撮合與多語需求仍然割裂</a:t>
            </a:r>
          </a:p>
        </p:txBody>
      </p:sp>
      <p:sp>
        <p:nvSpPr>
          <p:cNvPr id="26" name="NeeDo wordmark">
            <a:extLst>
              <a:ext uri="{FF2B5EF4-FFF2-40B4-BE49-F238E27FC236}">
                <a16:creationId xmlns:a16="http://schemas.microsoft.com/office/drawing/2014/main" id="{F161DEA3-7A1F-8B21-33D0-BBDF2EC51C5C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27" name="Section label">
            <a:extLst>
              <a:ext uri="{FF2B5EF4-FFF2-40B4-BE49-F238E27FC236}">
                <a16:creationId xmlns:a16="http://schemas.microsoft.com/office/drawing/2014/main" id="{4F141C4C-9987-D86C-2B21-E2B8B27CC4A9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  <p:sp>
        <p:nvSpPr>
          <p:cNvPr id="101" name="Rectangle 1"/>
          <p:cNvSpPr/>
          <p:nvPr/>
        </p:nvSpPr>
        <p:spPr>
          <a:xfrm>
            <a:off x="502920" y="1517904"/>
            <a:ext cx="1828800" cy="512064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Sans Normal"/>
                <a:ea typeface="MiSans Normal"/>
              </a:rPr>
              <a:t>服務</a:t>
            </a:r>
          </a:p>
        </p:txBody>
      </p:sp>
      <p:sp>
        <p:nvSpPr>
          <p:cNvPr id="102" name="Rectangle 2"/>
          <p:cNvSpPr/>
          <p:nvPr/>
        </p:nvSpPr>
        <p:spPr>
          <a:xfrm>
            <a:off x="2331720" y="1517904"/>
            <a:ext cx="749808" cy="512064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Sans Normal"/>
                <a:ea typeface="MiSans Normal"/>
              </a:rPr>
              <a:t>到店</a:t>
            </a:r>
          </a:p>
        </p:txBody>
      </p:sp>
      <p:sp>
        <p:nvSpPr>
          <p:cNvPr id="103" name="Rectangle 3"/>
          <p:cNvSpPr/>
          <p:nvPr/>
        </p:nvSpPr>
        <p:spPr>
          <a:xfrm>
            <a:off x="3081527" y="1517904"/>
            <a:ext cx="749808" cy="512064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Sans Normal"/>
                <a:ea typeface="MiSans Normal"/>
              </a:rPr>
              <a:t>上門</a:t>
            </a:r>
          </a:p>
        </p:txBody>
      </p:sp>
      <p:sp>
        <p:nvSpPr>
          <p:cNvPr id="104" name="Rectangle 4"/>
          <p:cNvSpPr/>
          <p:nvPr/>
        </p:nvSpPr>
        <p:spPr>
          <a:xfrm>
            <a:off x="3831335" y="1517904"/>
            <a:ext cx="804672" cy="512064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Sans Normal"/>
                <a:ea typeface="MiSans Normal"/>
              </a:rPr>
              <a:t>個人供給 /
Request</a:t>
            </a:r>
          </a:p>
        </p:txBody>
      </p:sp>
      <p:sp>
        <p:nvSpPr>
          <p:cNvPr id="105" name="Rectangle 5"/>
          <p:cNvSpPr/>
          <p:nvPr/>
        </p:nvSpPr>
        <p:spPr>
          <a:xfrm>
            <a:off x="4636007" y="1517904"/>
            <a:ext cx="877824" cy="512064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Sans Normal"/>
                <a:ea typeface="MiSans Normal"/>
              </a:rPr>
              <a:t>商戶
SaaS</a:t>
            </a:r>
          </a:p>
        </p:txBody>
      </p:sp>
      <p:sp>
        <p:nvSpPr>
          <p:cNvPr id="106" name="Rectangle 6"/>
          <p:cNvSpPr/>
          <p:nvPr/>
        </p:nvSpPr>
        <p:spPr>
          <a:xfrm>
            <a:off x="5513831" y="1517904"/>
            <a:ext cx="1783080" cy="512064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Sans Normal"/>
                <a:ea typeface="MiSans Normal"/>
              </a:rPr>
              <a:t>SaaS 易用度</a:t>
            </a:r>
          </a:p>
        </p:txBody>
      </p:sp>
      <p:sp>
        <p:nvSpPr>
          <p:cNvPr id="107" name="Rectangle 7"/>
          <p:cNvSpPr/>
          <p:nvPr/>
        </p:nvSpPr>
        <p:spPr>
          <a:xfrm>
            <a:off x="7296912" y="1517904"/>
            <a:ext cx="1417320" cy="512064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Sans Normal"/>
                <a:ea typeface="MiSans Normal"/>
              </a:rPr>
              <a:t>月費</a:t>
            </a:r>
          </a:p>
        </p:txBody>
      </p:sp>
      <p:sp>
        <p:nvSpPr>
          <p:cNvPr id="108" name="Rectangle 8"/>
          <p:cNvSpPr/>
          <p:nvPr/>
        </p:nvSpPr>
        <p:spPr>
          <a:xfrm>
            <a:off x="8714232" y="1517904"/>
            <a:ext cx="1508760" cy="512064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Sans Normal"/>
                <a:ea typeface="MiSans Normal"/>
              </a:rPr>
              <a:t>抽成 / 支付費</a:t>
            </a:r>
          </a:p>
        </p:txBody>
      </p:sp>
      <p:sp>
        <p:nvSpPr>
          <p:cNvPr id="109" name="Rectangle 9"/>
          <p:cNvSpPr/>
          <p:nvPr/>
        </p:nvSpPr>
        <p:spPr>
          <a:xfrm>
            <a:off x="10222992" y="1517904"/>
            <a:ext cx="1463040" cy="512064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Sans Normal"/>
                <a:ea typeface="MiSans Normal"/>
              </a:rPr>
              <a:t>多語言</a:t>
            </a:r>
          </a:p>
        </p:txBody>
      </p:sp>
      <p:sp>
        <p:nvSpPr>
          <p:cNvPr id="110" name="Comparison r1c1"/>
          <p:cNvSpPr/>
          <p:nvPr/>
        </p:nvSpPr>
        <p:spPr>
          <a:xfrm>
            <a:off x="502920" y="2029967"/>
            <a:ext cx="1828800" cy="475488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Sans Normal"/>
                <a:ea typeface="MiSans Normal"/>
              </a:rPr>
              <a:t>NeeDo</a:t>
            </a:r>
          </a:p>
        </p:txBody>
      </p:sp>
      <p:sp>
        <p:nvSpPr>
          <p:cNvPr id="111" name="Comparison r1c2"/>
          <p:cNvSpPr/>
          <p:nvPr/>
        </p:nvSpPr>
        <p:spPr>
          <a:xfrm>
            <a:off x="2331720" y="2029967"/>
            <a:ext cx="749808" cy="475488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12" name="Comparison r1c3"/>
          <p:cNvSpPr/>
          <p:nvPr/>
        </p:nvSpPr>
        <p:spPr>
          <a:xfrm>
            <a:off x="3081527" y="2029967"/>
            <a:ext cx="749808" cy="475488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13" name="Comparison r1c4"/>
          <p:cNvSpPr/>
          <p:nvPr/>
        </p:nvSpPr>
        <p:spPr>
          <a:xfrm>
            <a:off x="3831335" y="2029967"/>
            <a:ext cx="804672" cy="475488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14" name="Comparison r1c5"/>
          <p:cNvSpPr/>
          <p:nvPr/>
        </p:nvSpPr>
        <p:spPr>
          <a:xfrm>
            <a:off x="4636007" y="2029967"/>
            <a:ext cx="877824" cy="475488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15" name="Comparison r1c6"/>
          <p:cNvSpPr/>
          <p:nvPr/>
        </p:nvSpPr>
        <p:spPr>
          <a:xfrm>
            <a:off x="5513831" y="2029967"/>
            <a:ext cx="1783080" cy="475488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Sans Normal"/>
                <a:ea typeface="MiSans Normal"/>
              </a:rPr>
              <a:t>高｜一體化</a:t>
            </a:r>
          </a:p>
        </p:txBody>
      </p:sp>
      <p:sp>
        <p:nvSpPr>
          <p:cNvPr id="116" name="Comparison r1c7"/>
          <p:cNvSpPr/>
          <p:nvPr/>
        </p:nvSpPr>
        <p:spPr>
          <a:xfrm>
            <a:off x="7296912" y="2029967"/>
            <a:ext cx="1417320" cy="475488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dirty="0" err="1">
                <a:solidFill>
                  <a:srgbClr val="FFFFFF"/>
                </a:solidFill>
                <a:latin typeface="MiSans Normal"/>
                <a:ea typeface="MiSans Normal"/>
              </a:rPr>
              <a:t>目標</a:t>
            </a:r>
            <a:r>
              <a:rPr sz="840" b="1" dirty="0">
                <a:solidFill>
                  <a:srgbClr val="FFFFFF"/>
                </a:solidFill>
                <a:latin typeface="MiSans Normal"/>
                <a:ea typeface="MiSans Normal"/>
              </a:rPr>
              <a:t> ¥0</a:t>
            </a:r>
            <a:r>
              <a:rPr lang="zh-CN" altLang="en-US" sz="840" b="1" dirty="0">
                <a:solidFill>
                  <a:srgbClr val="FFFFFF"/>
                </a:solidFill>
                <a:latin typeface="MiSans Normal"/>
                <a:ea typeface="MiSans Normal"/>
              </a:rPr>
              <a:t> </a:t>
            </a:r>
            <a:r>
              <a:rPr lang="en-US" altLang="zh-CN" sz="840" b="1" dirty="0">
                <a:solidFill>
                  <a:srgbClr val="FFFFFF"/>
                </a:solidFill>
                <a:latin typeface="MiSans Normal"/>
                <a:ea typeface="MiSans Normal"/>
              </a:rPr>
              <a:t>-</a:t>
            </a:r>
            <a:r>
              <a:rPr lang="zh-CN" altLang="en-US" sz="840" b="1" dirty="0">
                <a:solidFill>
                  <a:srgbClr val="FFFFFF"/>
                </a:solidFill>
                <a:latin typeface="MiSans Normal"/>
                <a:ea typeface="MiSans Normal"/>
              </a:rPr>
              <a:t> </a:t>
            </a:r>
            <a:r>
              <a:rPr lang="en-US" altLang="zh-CN" sz="840" b="1" dirty="0">
                <a:solidFill>
                  <a:srgbClr val="FFFFFF"/>
                </a:solidFill>
                <a:latin typeface="MiSans Normal"/>
                <a:ea typeface="MiSans Normal"/>
              </a:rPr>
              <a:t>9,800</a:t>
            </a:r>
            <a:endParaRPr sz="840" b="1" dirty="0">
              <a:solidFill>
                <a:srgbClr val="FFFFFF"/>
              </a:solidFill>
              <a:latin typeface="MiSans Normal"/>
              <a:ea typeface="MiSans Normal"/>
            </a:endParaRPr>
          </a:p>
        </p:txBody>
      </p:sp>
      <p:sp>
        <p:nvSpPr>
          <p:cNvPr id="117" name="Comparison r1c8"/>
          <p:cNvSpPr/>
          <p:nvPr/>
        </p:nvSpPr>
        <p:spPr>
          <a:xfrm>
            <a:off x="8714232" y="2029967"/>
            <a:ext cx="1508760" cy="475488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40" b="1" dirty="0">
                <a:solidFill>
                  <a:srgbClr val="FFFFFF"/>
                </a:solidFill>
                <a:latin typeface="MiSans Normal"/>
                <a:ea typeface="MiSans Normal"/>
              </a:rPr>
              <a:t>0%</a:t>
            </a:r>
            <a:r>
              <a:rPr lang="zh-CN" altLang="en-US" sz="840" b="1" dirty="0">
                <a:solidFill>
                  <a:srgbClr val="FFFFFF"/>
                </a:solidFill>
                <a:latin typeface="MiSans Normal"/>
                <a:ea typeface="MiSans Normal"/>
              </a:rPr>
              <a:t> </a:t>
            </a:r>
            <a:r>
              <a:rPr lang="en-US" altLang="zh-CN" sz="840" b="1" dirty="0">
                <a:solidFill>
                  <a:srgbClr val="FFFFFF"/>
                </a:solidFill>
                <a:latin typeface="MiSans Normal"/>
                <a:ea typeface="MiSans Normal"/>
              </a:rPr>
              <a:t>/ </a:t>
            </a:r>
            <a:r>
              <a:rPr sz="840" b="1" dirty="0">
                <a:solidFill>
                  <a:srgbClr val="FFFFFF"/>
                </a:solidFill>
                <a:latin typeface="MiSans Normal"/>
                <a:ea typeface="MiSans Normal"/>
              </a:rPr>
              <a:t>500 </a:t>
            </a:r>
            <a:r>
              <a:rPr lang="en-US" sz="840" b="1" dirty="0" err="1">
                <a:solidFill>
                  <a:srgbClr val="FFFFFF"/>
                </a:solidFill>
                <a:latin typeface="MiSans Normal"/>
                <a:ea typeface="MiSans Normal"/>
              </a:rPr>
              <a:t>日元</a:t>
            </a:r>
            <a:endParaRPr sz="840" b="1" dirty="0">
              <a:solidFill>
                <a:srgbClr val="FFFFFF"/>
              </a:solidFill>
              <a:latin typeface="MiSans Normal"/>
              <a:ea typeface="MiSans Normal"/>
            </a:endParaRPr>
          </a:p>
        </p:txBody>
      </p:sp>
      <p:sp>
        <p:nvSpPr>
          <p:cNvPr id="118" name="Comparison r1c9"/>
          <p:cNvSpPr/>
          <p:nvPr/>
        </p:nvSpPr>
        <p:spPr>
          <a:xfrm>
            <a:off x="10222992" y="2029967"/>
            <a:ext cx="1463040" cy="475488"/>
          </a:xfrm>
          <a:prstGeom prst="rect">
            <a:avLst/>
          </a:prstGeom>
          <a:solidFill>
            <a:srgbClr val="0B594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dirty="0" err="1">
                <a:solidFill>
                  <a:srgbClr val="FFFFFF"/>
                </a:solidFill>
                <a:latin typeface="MiSans Normal"/>
                <a:ea typeface="MiSans Normal"/>
              </a:rPr>
              <a:t>日／中／英</a:t>
            </a:r>
            <a:r>
              <a:rPr lang="zh-CN" altLang="en-US" sz="840" b="0" dirty="0">
                <a:solidFill>
                  <a:schemeClr val="bg1"/>
                </a:solidFill>
                <a:latin typeface="MiSans Normal"/>
                <a:ea typeface="MiSans Normal"/>
              </a:rPr>
              <a:t>／韓</a:t>
            </a:r>
            <a:endParaRPr sz="840" b="1" dirty="0">
              <a:solidFill>
                <a:schemeClr val="bg1"/>
              </a:solidFill>
              <a:latin typeface="MiSans Normal"/>
              <a:ea typeface="MiSans Normal"/>
            </a:endParaRPr>
          </a:p>
        </p:txBody>
      </p:sp>
      <p:sp>
        <p:nvSpPr>
          <p:cNvPr id="119" name="Comparison r2c1"/>
          <p:cNvSpPr/>
          <p:nvPr/>
        </p:nvSpPr>
        <p:spPr>
          <a:xfrm>
            <a:off x="502920" y="2505456"/>
            <a:ext cx="182880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01A16"/>
                </a:solidFill>
                <a:latin typeface="MiSans Normal"/>
                <a:ea typeface="MiSans Normal"/>
              </a:rPr>
              <a:t>HOT PEPPER Beauty</a:t>
            </a:r>
          </a:p>
        </p:txBody>
      </p:sp>
      <p:sp>
        <p:nvSpPr>
          <p:cNvPr id="120" name="Comparison r2c2"/>
          <p:cNvSpPr/>
          <p:nvPr/>
        </p:nvSpPr>
        <p:spPr>
          <a:xfrm>
            <a:off x="2331720" y="2505456"/>
            <a:ext cx="749808" cy="475488"/>
          </a:xfrm>
          <a:prstGeom prst="rect">
            <a:avLst/>
          </a:prstGeom>
          <a:solidFill>
            <a:srgbClr val="EAF4EE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5943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21" name="Comparison r2c3"/>
          <p:cNvSpPr/>
          <p:nvPr/>
        </p:nvSpPr>
        <p:spPr>
          <a:xfrm>
            <a:off x="3081527" y="2505456"/>
            <a:ext cx="749808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22" name="Comparison r2c4"/>
          <p:cNvSpPr/>
          <p:nvPr/>
        </p:nvSpPr>
        <p:spPr>
          <a:xfrm>
            <a:off x="3831335" y="2505456"/>
            <a:ext cx="804672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23" name="Comparison r2c5"/>
          <p:cNvSpPr/>
          <p:nvPr/>
        </p:nvSpPr>
        <p:spPr>
          <a:xfrm>
            <a:off x="4636007" y="2505456"/>
            <a:ext cx="877824" cy="475488"/>
          </a:xfrm>
          <a:prstGeom prst="rect">
            <a:avLst/>
          </a:prstGeom>
          <a:solidFill>
            <a:srgbClr val="EAF4EE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5943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24" name="Comparison r2c6"/>
          <p:cNvSpPr/>
          <p:nvPr/>
        </p:nvSpPr>
        <p:spPr>
          <a:xfrm>
            <a:off x="5513831" y="2505456"/>
            <a:ext cx="178308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01A16"/>
                </a:solidFill>
                <a:latin typeface="MiSans Normal"/>
                <a:ea typeface="MiSans Normal"/>
              </a:rPr>
              <a:t>高｜成熟後台</a:t>
            </a:r>
          </a:p>
        </p:txBody>
      </p:sp>
      <p:sp>
        <p:nvSpPr>
          <p:cNvPr id="125" name="Comparison r2c7"/>
          <p:cNvSpPr/>
          <p:nvPr/>
        </p:nvSpPr>
        <p:spPr>
          <a:xfrm>
            <a:off x="7296912" y="2505456"/>
            <a:ext cx="141732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01A16"/>
                </a:solidFill>
                <a:latin typeface="MiSans Normal"/>
                <a:ea typeface="MiSans Normal"/>
              </a:rPr>
              <a:t>詢價</a:t>
            </a:r>
          </a:p>
        </p:txBody>
      </p:sp>
      <p:sp>
        <p:nvSpPr>
          <p:cNvPr id="126" name="Comparison r2c8"/>
          <p:cNvSpPr/>
          <p:nvPr/>
        </p:nvSpPr>
        <p:spPr>
          <a:xfrm>
            <a:off x="8714232" y="2505456"/>
            <a:ext cx="150876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01A16"/>
                </a:solidFill>
                <a:latin typeface="MiSans Normal"/>
                <a:ea typeface="MiSans Normal"/>
              </a:rPr>
              <a:t>未公開</a:t>
            </a:r>
          </a:p>
        </p:txBody>
      </p:sp>
      <p:sp>
        <p:nvSpPr>
          <p:cNvPr id="127" name="Comparison r2c9"/>
          <p:cNvSpPr/>
          <p:nvPr/>
        </p:nvSpPr>
        <p:spPr>
          <a:xfrm>
            <a:off x="10222992" y="2505456"/>
            <a:ext cx="146304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40" b="0" dirty="0">
                <a:solidFill>
                  <a:srgbClr val="101A16"/>
                </a:solidFill>
                <a:latin typeface="MiSans Normal"/>
                <a:ea typeface="MiSans Normal"/>
              </a:rPr>
              <a:t>-</a:t>
            </a:r>
            <a:endParaRPr sz="840" b="0" dirty="0">
              <a:solidFill>
                <a:srgbClr val="101A16"/>
              </a:solidFill>
              <a:latin typeface="MiSans Normal"/>
              <a:ea typeface="MiSans Normal"/>
            </a:endParaRPr>
          </a:p>
        </p:txBody>
      </p:sp>
      <p:sp>
        <p:nvSpPr>
          <p:cNvPr id="128" name="Comparison r3c1"/>
          <p:cNvSpPr/>
          <p:nvPr/>
        </p:nvSpPr>
        <p:spPr>
          <a:xfrm>
            <a:off x="502920" y="2980944"/>
            <a:ext cx="18288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16"/>
                </a:solidFill>
                <a:latin typeface="MiSans Normal"/>
                <a:ea typeface="MiSans Normal"/>
              </a:rPr>
              <a:t>STORES 予約</a:t>
            </a:r>
          </a:p>
        </p:txBody>
      </p:sp>
      <p:sp>
        <p:nvSpPr>
          <p:cNvPr id="129" name="Comparison r3c2"/>
          <p:cNvSpPr/>
          <p:nvPr/>
        </p:nvSpPr>
        <p:spPr>
          <a:xfrm>
            <a:off x="2331720" y="2980944"/>
            <a:ext cx="749808" cy="475488"/>
          </a:xfrm>
          <a:prstGeom prst="rect">
            <a:avLst/>
          </a:prstGeom>
          <a:solidFill>
            <a:srgbClr val="EAF4EE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5943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30" name="Comparison r3c3"/>
          <p:cNvSpPr/>
          <p:nvPr/>
        </p:nvSpPr>
        <p:spPr>
          <a:xfrm>
            <a:off x="3081527" y="2980944"/>
            <a:ext cx="749808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31" name="Comparison r3c4"/>
          <p:cNvSpPr/>
          <p:nvPr/>
        </p:nvSpPr>
        <p:spPr>
          <a:xfrm>
            <a:off x="3831335" y="2980944"/>
            <a:ext cx="804672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32" name="Comparison r3c5"/>
          <p:cNvSpPr/>
          <p:nvPr/>
        </p:nvSpPr>
        <p:spPr>
          <a:xfrm>
            <a:off x="4636007" y="2980944"/>
            <a:ext cx="877824" cy="475488"/>
          </a:xfrm>
          <a:prstGeom prst="rect">
            <a:avLst/>
          </a:prstGeom>
          <a:solidFill>
            <a:srgbClr val="EAF4EE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5943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33" name="Comparison r3c6"/>
          <p:cNvSpPr/>
          <p:nvPr/>
        </p:nvSpPr>
        <p:spPr>
          <a:xfrm>
            <a:off x="5513831" y="2980944"/>
            <a:ext cx="17830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01A16"/>
                </a:solidFill>
                <a:latin typeface="MiSans Normal"/>
                <a:ea typeface="MiSans Normal"/>
              </a:rPr>
              <a:t>高｜快速開通</a:t>
            </a:r>
          </a:p>
        </p:txBody>
      </p:sp>
      <p:sp>
        <p:nvSpPr>
          <p:cNvPr id="134" name="Comparison r3c7"/>
          <p:cNvSpPr/>
          <p:nvPr/>
        </p:nvSpPr>
        <p:spPr>
          <a:xfrm>
            <a:off x="7296912" y="2980944"/>
            <a:ext cx="14173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dirty="0">
                <a:solidFill>
                  <a:srgbClr val="101A16"/>
                </a:solidFill>
                <a:latin typeface="MiSans Normal"/>
                <a:ea typeface="MiSans Normal"/>
              </a:rPr>
              <a:t>¥0</a:t>
            </a:r>
            <a:r>
              <a:rPr lang="en-US" sz="840" b="0" dirty="0">
                <a:solidFill>
                  <a:srgbClr val="101A16"/>
                </a:solidFill>
                <a:latin typeface="MiSans Normal"/>
                <a:ea typeface="MiSans Normal"/>
              </a:rPr>
              <a:t> </a:t>
            </a:r>
            <a:r>
              <a:rPr sz="840" b="0" dirty="0">
                <a:solidFill>
                  <a:srgbClr val="101A16"/>
                </a:solidFill>
                <a:latin typeface="MiSans Normal"/>
                <a:ea typeface="MiSans Normal"/>
              </a:rPr>
              <a:t>–</a:t>
            </a:r>
            <a:r>
              <a:rPr lang="en-US" sz="840" b="0" dirty="0">
                <a:solidFill>
                  <a:srgbClr val="101A16"/>
                </a:solidFill>
                <a:latin typeface="MiSans Normal"/>
                <a:ea typeface="MiSans Normal"/>
              </a:rPr>
              <a:t> </a:t>
            </a:r>
            <a:r>
              <a:rPr sz="840" b="0" dirty="0">
                <a:solidFill>
                  <a:srgbClr val="101A16"/>
                </a:solidFill>
                <a:latin typeface="MiSans Normal"/>
                <a:ea typeface="MiSans Normal"/>
              </a:rPr>
              <a:t>66,000</a:t>
            </a:r>
          </a:p>
        </p:txBody>
      </p:sp>
      <p:sp>
        <p:nvSpPr>
          <p:cNvPr id="135" name="Comparison r3c8"/>
          <p:cNvSpPr/>
          <p:nvPr/>
        </p:nvSpPr>
        <p:spPr>
          <a:xfrm>
            <a:off x="8714232" y="2980944"/>
            <a:ext cx="15087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01A16"/>
                </a:solidFill>
                <a:latin typeface="MiSans Normal"/>
                <a:ea typeface="MiSans Normal"/>
              </a:rPr>
              <a:t>支付 3.3–5.2%</a:t>
            </a:r>
          </a:p>
        </p:txBody>
      </p:sp>
      <p:sp>
        <p:nvSpPr>
          <p:cNvPr id="136" name="Comparison r3c9"/>
          <p:cNvSpPr/>
          <p:nvPr/>
        </p:nvSpPr>
        <p:spPr>
          <a:xfrm>
            <a:off x="10222992" y="2980944"/>
            <a:ext cx="14630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40" b="0" dirty="0">
                <a:solidFill>
                  <a:srgbClr val="101A16"/>
                </a:solidFill>
                <a:latin typeface="MiSans Normal"/>
                <a:ea typeface="MiSans Normal"/>
              </a:rPr>
              <a:t>-</a:t>
            </a:r>
            <a:endParaRPr sz="840" b="0" dirty="0">
              <a:solidFill>
                <a:srgbClr val="101A16"/>
              </a:solidFill>
              <a:latin typeface="MiSans Normal"/>
              <a:ea typeface="MiSans Normal"/>
            </a:endParaRPr>
          </a:p>
        </p:txBody>
      </p:sp>
      <p:sp>
        <p:nvSpPr>
          <p:cNvPr id="137" name="Comparison r4c1"/>
          <p:cNvSpPr/>
          <p:nvPr/>
        </p:nvSpPr>
        <p:spPr>
          <a:xfrm>
            <a:off x="502920" y="3456432"/>
            <a:ext cx="182880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16"/>
                </a:solidFill>
                <a:latin typeface="MiSans Normal"/>
                <a:ea typeface="MiSans Normal"/>
              </a:rPr>
              <a:t>EDISONE予約</a:t>
            </a:r>
          </a:p>
        </p:txBody>
      </p:sp>
      <p:sp>
        <p:nvSpPr>
          <p:cNvPr id="138" name="Comparison r4c2"/>
          <p:cNvSpPr/>
          <p:nvPr/>
        </p:nvSpPr>
        <p:spPr>
          <a:xfrm>
            <a:off x="2331720" y="3456432"/>
            <a:ext cx="749808" cy="475488"/>
          </a:xfrm>
          <a:prstGeom prst="rect">
            <a:avLst/>
          </a:prstGeom>
          <a:solidFill>
            <a:srgbClr val="EAF4EE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5943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39" name="Comparison r4c3"/>
          <p:cNvSpPr/>
          <p:nvPr/>
        </p:nvSpPr>
        <p:spPr>
          <a:xfrm>
            <a:off x="3081527" y="3456432"/>
            <a:ext cx="749808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40" name="Comparison r4c4"/>
          <p:cNvSpPr/>
          <p:nvPr/>
        </p:nvSpPr>
        <p:spPr>
          <a:xfrm>
            <a:off x="3831335" y="3456432"/>
            <a:ext cx="804672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41" name="Comparison r4c5"/>
          <p:cNvSpPr/>
          <p:nvPr/>
        </p:nvSpPr>
        <p:spPr>
          <a:xfrm>
            <a:off x="4636007" y="3456432"/>
            <a:ext cx="877824" cy="475488"/>
          </a:xfrm>
          <a:prstGeom prst="rect">
            <a:avLst/>
          </a:prstGeom>
          <a:solidFill>
            <a:srgbClr val="EAF4EE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5943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42" name="Comparison r4c6"/>
          <p:cNvSpPr/>
          <p:nvPr/>
        </p:nvSpPr>
        <p:spPr>
          <a:xfrm>
            <a:off x="5513831" y="3456432"/>
            <a:ext cx="178308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01A16"/>
                </a:solidFill>
                <a:latin typeface="MiSans Normal"/>
                <a:ea typeface="MiSans Normal"/>
              </a:rPr>
              <a:t>中高｜模板型</a:t>
            </a:r>
          </a:p>
        </p:txBody>
      </p:sp>
      <p:sp>
        <p:nvSpPr>
          <p:cNvPr id="143" name="Comparison r4c7"/>
          <p:cNvSpPr/>
          <p:nvPr/>
        </p:nvSpPr>
        <p:spPr>
          <a:xfrm>
            <a:off x="7296912" y="3456432"/>
            <a:ext cx="141732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dirty="0">
                <a:solidFill>
                  <a:srgbClr val="101A16"/>
                </a:solidFill>
                <a:latin typeface="MiSans Normal"/>
                <a:ea typeface="MiSans Normal"/>
              </a:rPr>
              <a:t>¥0</a:t>
            </a:r>
            <a:r>
              <a:rPr lang="en-US" sz="840" b="0" dirty="0">
                <a:solidFill>
                  <a:srgbClr val="101A16"/>
                </a:solidFill>
                <a:latin typeface="MiSans Normal"/>
                <a:ea typeface="MiSans Normal"/>
              </a:rPr>
              <a:t> </a:t>
            </a:r>
            <a:r>
              <a:rPr sz="840" b="0" dirty="0">
                <a:solidFill>
                  <a:srgbClr val="101A16"/>
                </a:solidFill>
                <a:latin typeface="MiSans Normal"/>
                <a:ea typeface="MiSans Normal"/>
              </a:rPr>
              <a:t>–</a:t>
            </a:r>
            <a:r>
              <a:rPr lang="en-US" sz="840" b="0" dirty="0">
                <a:solidFill>
                  <a:srgbClr val="101A16"/>
                </a:solidFill>
                <a:latin typeface="MiSans Normal"/>
                <a:ea typeface="MiSans Normal"/>
              </a:rPr>
              <a:t> </a:t>
            </a:r>
            <a:r>
              <a:rPr sz="840" b="0" dirty="0">
                <a:solidFill>
                  <a:srgbClr val="101A16"/>
                </a:solidFill>
                <a:latin typeface="MiSans Normal"/>
                <a:ea typeface="MiSans Normal"/>
              </a:rPr>
              <a:t>10,780</a:t>
            </a:r>
          </a:p>
        </p:txBody>
      </p:sp>
      <p:sp>
        <p:nvSpPr>
          <p:cNvPr id="144" name="Comparison r4c8"/>
          <p:cNvSpPr/>
          <p:nvPr/>
        </p:nvSpPr>
        <p:spPr>
          <a:xfrm>
            <a:off x="8714232" y="3456432"/>
            <a:ext cx="150876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01A16"/>
                </a:solidFill>
                <a:latin typeface="MiSans Normal"/>
                <a:ea typeface="MiSans Normal"/>
              </a:rPr>
              <a:t>支付 4.7%</a:t>
            </a:r>
          </a:p>
        </p:txBody>
      </p:sp>
      <p:sp>
        <p:nvSpPr>
          <p:cNvPr id="145" name="Comparison r4c9"/>
          <p:cNvSpPr/>
          <p:nvPr/>
        </p:nvSpPr>
        <p:spPr>
          <a:xfrm>
            <a:off x="10222992" y="3456432"/>
            <a:ext cx="146304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01A16"/>
                </a:solidFill>
                <a:latin typeface="MiSans Normal"/>
                <a:ea typeface="MiSans Normal"/>
              </a:rPr>
              <a:t>5 語</a:t>
            </a:r>
          </a:p>
        </p:txBody>
      </p:sp>
      <p:sp>
        <p:nvSpPr>
          <p:cNvPr id="146" name="Comparison r5c1"/>
          <p:cNvSpPr/>
          <p:nvPr/>
        </p:nvSpPr>
        <p:spPr>
          <a:xfrm>
            <a:off x="502920" y="3931920"/>
            <a:ext cx="18288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16"/>
                </a:solidFill>
                <a:latin typeface="MiSans Normal"/>
                <a:ea typeface="MiSans Normal"/>
              </a:rPr>
              <a:t>HOGUGU</a:t>
            </a:r>
          </a:p>
        </p:txBody>
      </p:sp>
      <p:sp>
        <p:nvSpPr>
          <p:cNvPr id="147" name="Comparison r5c2"/>
          <p:cNvSpPr/>
          <p:nvPr/>
        </p:nvSpPr>
        <p:spPr>
          <a:xfrm>
            <a:off x="2331720" y="3931920"/>
            <a:ext cx="749808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48" name="Comparison r5c3"/>
          <p:cNvSpPr/>
          <p:nvPr/>
        </p:nvSpPr>
        <p:spPr>
          <a:xfrm>
            <a:off x="3081527" y="3931920"/>
            <a:ext cx="749808" cy="475488"/>
          </a:xfrm>
          <a:prstGeom prst="rect">
            <a:avLst/>
          </a:prstGeom>
          <a:solidFill>
            <a:srgbClr val="EAF4EE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5943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49" name="Comparison r5c4"/>
          <p:cNvSpPr/>
          <p:nvPr/>
        </p:nvSpPr>
        <p:spPr>
          <a:xfrm>
            <a:off x="3831335" y="3931920"/>
            <a:ext cx="804672" cy="475488"/>
          </a:xfrm>
          <a:prstGeom prst="rect">
            <a:avLst/>
          </a:prstGeom>
          <a:solidFill>
            <a:srgbClr val="EAF4EE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5943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50" name="Comparison r5c5"/>
          <p:cNvSpPr/>
          <p:nvPr/>
        </p:nvSpPr>
        <p:spPr>
          <a:xfrm>
            <a:off x="4636007" y="3931920"/>
            <a:ext cx="877824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51" name="Comparison r5c6"/>
          <p:cNvSpPr/>
          <p:nvPr/>
        </p:nvSpPr>
        <p:spPr>
          <a:xfrm>
            <a:off x="5513831" y="3931920"/>
            <a:ext cx="17830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101A16"/>
                </a:solidFill>
                <a:latin typeface="MiSans Normal"/>
                <a:ea typeface="MiSans Normal"/>
              </a:rPr>
              <a:t>—｜</a:t>
            </a:r>
            <a:r>
              <a:rPr sz="900" b="0" dirty="0" err="1">
                <a:solidFill>
                  <a:srgbClr val="101A16"/>
                </a:solidFill>
                <a:latin typeface="MiSans Normal"/>
                <a:ea typeface="MiSans Normal"/>
              </a:rPr>
              <a:t>非商戶</a:t>
            </a:r>
            <a:r>
              <a:rPr sz="900" b="0" dirty="0">
                <a:solidFill>
                  <a:srgbClr val="101A16"/>
                </a:solidFill>
                <a:latin typeface="MiSans Normal"/>
                <a:ea typeface="MiSans Normal"/>
              </a:rPr>
              <a:t> SaaS</a:t>
            </a:r>
            <a:r>
              <a:rPr lang="zh-CN" altLang="en-US" sz="900" b="0" dirty="0">
                <a:solidFill>
                  <a:srgbClr val="101A16"/>
                </a:solidFill>
                <a:latin typeface="MiSans Normal"/>
                <a:ea typeface="MiSans Normal"/>
              </a:rPr>
              <a:t> ｜個人撮合</a:t>
            </a:r>
            <a:endParaRPr sz="900" b="0" dirty="0">
              <a:solidFill>
                <a:srgbClr val="101A16"/>
              </a:solidFill>
              <a:latin typeface="MiSans Normal"/>
              <a:ea typeface="MiSans Normal"/>
            </a:endParaRPr>
          </a:p>
        </p:txBody>
      </p:sp>
      <p:sp>
        <p:nvSpPr>
          <p:cNvPr id="152" name="Comparison r5c7"/>
          <p:cNvSpPr/>
          <p:nvPr/>
        </p:nvSpPr>
        <p:spPr>
          <a:xfrm>
            <a:off x="7296912" y="3931920"/>
            <a:ext cx="14173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01A16"/>
                </a:solidFill>
                <a:latin typeface="MiSans Normal"/>
                <a:ea typeface="MiSans Normal"/>
              </a:rPr>
              <a:t>¥0</a:t>
            </a:r>
          </a:p>
        </p:txBody>
      </p:sp>
      <p:sp>
        <p:nvSpPr>
          <p:cNvPr id="153" name="Comparison r5c8"/>
          <p:cNvSpPr/>
          <p:nvPr/>
        </p:nvSpPr>
        <p:spPr>
          <a:xfrm>
            <a:off x="8714232" y="3931920"/>
            <a:ext cx="15087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01A16"/>
                </a:solidFill>
                <a:latin typeface="MiSans Normal"/>
                <a:ea typeface="MiSans Normal"/>
              </a:rPr>
              <a:t>29.8–40.8%</a:t>
            </a:r>
          </a:p>
        </p:txBody>
      </p:sp>
      <p:sp>
        <p:nvSpPr>
          <p:cNvPr id="154" name="Comparison r5c9"/>
          <p:cNvSpPr/>
          <p:nvPr/>
        </p:nvSpPr>
        <p:spPr>
          <a:xfrm>
            <a:off x="10222992" y="3931920"/>
            <a:ext cx="14630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dirty="0" err="1">
                <a:solidFill>
                  <a:srgbClr val="101A16"/>
                </a:solidFill>
                <a:latin typeface="MiSans Normal"/>
                <a:ea typeface="MiSans Normal"/>
              </a:rPr>
              <a:t>中／英／韓</a:t>
            </a:r>
            <a:endParaRPr sz="840" b="0" dirty="0">
              <a:solidFill>
                <a:srgbClr val="101A16"/>
              </a:solidFill>
              <a:latin typeface="MiSans Normal"/>
              <a:ea typeface="MiSans Normal"/>
            </a:endParaRPr>
          </a:p>
        </p:txBody>
      </p:sp>
      <p:sp>
        <p:nvSpPr>
          <p:cNvPr id="155" name="Comparison r6c1"/>
          <p:cNvSpPr/>
          <p:nvPr/>
        </p:nvSpPr>
        <p:spPr>
          <a:xfrm>
            <a:off x="502920" y="4407408"/>
            <a:ext cx="182880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16"/>
                </a:solidFill>
                <a:latin typeface="MiSans Normal"/>
                <a:ea typeface="MiSans Normal"/>
              </a:rPr>
              <a:t>ANYTIMES</a:t>
            </a:r>
          </a:p>
        </p:txBody>
      </p:sp>
      <p:sp>
        <p:nvSpPr>
          <p:cNvPr id="156" name="Comparison r6c2"/>
          <p:cNvSpPr/>
          <p:nvPr/>
        </p:nvSpPr>
        <p:spPr>
          <a:xfrm>
            <a:off x="2331720" y="4407408"/>
            <a:ext cx="749808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57" name="Comparison r6c3"/>
          <p:cNvSpPr/>
          <p:nvPr/>
        </p:nvSpPr>
        <p:spPr>
          <a:xfrm>
            <a:off x="3081527" y="4407408"/>
            <a:ext cx="749808" cy="475488"/>
          </a:xfrm>
          <a:prstGeom prst="rect">
            <a:avLst/>
          </a:prstGeom>
          <a:solidFill>
            <a:srgbClr val="EAF4EE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5943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58" name="Comparison r6c4"/>
          <p:cNvSpPr/>
          <p:nvPr/>
        </p:nvSpPr>
        <p:spPr>
          <a:xfrm>
            <a:off x="3831335" y="4407408"/>
            <a:ext cx="804672" cy="475488"/>
          </a:xfrm>
          <a:prstGeom prst="rect">
            <a:avLst/>
          </a:prstGeom>
          <a:solidFill>
            <a:srgbClr val="EAF4EE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5943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59" name="Comparison r6c5"/>
          <p:cNvSpPr/>
          <p:nvPr/>
        </p:nvSpPr>
        <p:spPr>
          <a:xfrm>
            <a:off x="4636007" y="4407408"/>
            <a:ext cx="877824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60" name="Comparison r6c6"/>
          <p:cNvSpPr/>
          <p:nvPr/>
        </p:nvSpPr>
        <p:spPr>
          <a:xfrm>
            <a:off x="5513831" y="4407408"/>
            <a:ext cx="178308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101A16"/>
                </a:solidFill>
                <a:latin typeface="MiSans Normal"/>
                <a:ea typeface="MiSans Normal"/>
              </a:rPr>
              <a:t>—｜</a:t>
            </a:r>
            <a:r>
              <a:rPr sz="900" b="0" dirty="0" err="1">
                <a:solidFill>
                  <a:srgbClr val="101A16"/>
                </a:solidFill>
                <a:latin typeface="MiSans Normal"/>
                <a:ea typeface="MiSans Normal"/>
              </a:rPr>
              <a:t>個人撮合</a:t>
            </a:r>
            <a:endParaRPr sz="900" b="0" dirty="0">
              <a:solidFill>
                <a:srgbClr val="101A16"/>
              </a:solidFill>
              <a:latin typeface="MiSans Normal"/>
              <a:ea typeface="MiSans Normal"/>
            </a:endParaRPr>
          </a:p>
        </p:txBody>
      </p:sp>
      <p:sp>
        <p:nvSpPr>
          <p:cNvPr id="161" name="Comparison r6c7"/>
          <p:cNvSpPr/>
          <p:nvPr/>
        </p:nvSpPr>
        <p:spPr>
          <a:xfrm>
            <a:off x="7296912" y="4407408"/>
            <a:ext cx="141732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dirty="0">
                <a:solidFill>
                  <a:srgbClr val="101A16"/>
                </a:solidFill>
                <a:latin typeface="MiSans Normal"/>
                <a:ea typeface="MiSans Normal"/>
              </a:rPr>
              <a:t>¥0</a:t>
            </a:r>
          </a:p>
        </p:txBody>
      </p:sp>
      <p:sp>
        <p:nvSpPr>
          <p:cNvPr id="162" name="Comparison r6c8"/>
          <p:cNvSpPr/>
          <p:nvPr/>
        </p:nvSpPr>
        <p:spPr>
          <a:xfrm>
            <a:off x="8714232" y="4407408"/>
            <a:ext cx="150876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dirty="0">
                <a:solidFill>
                  <a:srgbClr val="101A16"/>
                </a:solidFill>
                <a:latin typeface="MiSans Normal"/>
                <a:ea typeface="MiSans Normal"/>
              </a:rPr>
              <a:t>15%</a:t>
            </a:r>
          </a:p>
        </p:txBody>
      </p:sp>
      <p:sp>
        <p:nvSpPr>
          <p:cNvPr id="163" name="Comparison r6c9"/>
          <p:cNvSpPr/>
          <p:nvPr/>
        </p:nvSpPr>
        <p:spPr>
          <a:xfrm>
            <a:off x="10222992" y="4407408"/>
            <a:ext cx="146304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01A16"/>
                </a:solidFill>
                <a:latin typeface="MiSans Normal"/>
                <a:ea typeface="MiSans Normal"/>
              </a:rPr>
              <a:t>△ 英文 FAQ</a:t>
            </a:r>
          </a:p>
        </p:txBody>
      </p:sp>
      <p:sp>
        <p:nvSpPr>
          <p:cNvPr id="164" name="Comparison r7c1"/>
          <p:cNvSpPr/>
          <p:nvPr/>
        </p:nvSpPr>
        <p:spPr>
          <a:xfrm>
            <a:off x="502920" y="4882896"/>
            <a:ext cx="18288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16"/>
                </a:solidFill>
                <a:latin typeface="MiSans Normal"/>
                <a:ea typeface="MiSans Normal"/>
              </a:rPr>
              <a:t>teco</a:t>
            </a:r>
          </a:p>
        </p:txBody>
      </p:sp>
      <p:sp>
        <p:nvSpPr>
          <p:cNvPr id="165" name="Comparison r7c2"/>
          <p:cNvSpPr/>
          <p:nvPr/>
        </p:nvSpPr>
        <p:spPr>
          <a:xfrm>
            <a:off x="2331720" y="4882896"/>
            <a:ext cx="749808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66" name="Comparison r7c3"/>
          <p:cNvSpPr/>
          <p:nvPr/>
        </p:nvSpPr>
        <p:spPr>
          <a:xfrm>
            <a:off x="3081527" y="4882896"/>
            <a:ext cx="749808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67" name="Comparison r7c4"/>
          <p:cNvSpPr/>
          <p:nvPr/>
        </p:nvSpPr>
        <p:spPr>
          <a:xfrm>
            <a:off x="3831335" y="4882896"/>
            <a:ext cx="804672" cy="475488"/>
          </a:xfrm>
          <a:prstGeom prst="rect">
            <a:avLst/>
          </a:prstGeom>
          <a:solidFill>
            <a:srgbClr val="EAF4EE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5943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68" name="Comparison r7c5"/>
          <p:cNvSpPr/>
          <p:nvPr/>
        </p:nvSpPr>
        <p:spPr>
          <a:xfrm>
            <a:off x="4636007" y="4882896"/>
            <a:ext cx="877824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69" name="Comparison r7c6"/>
          <p:cNvSpPr/>
          <p:nvPr/>
        </p:nvSpPr>
        <p:spPr>
          <a:xfrm>
            <a:off x="5513831" y="4882896"/>
            <a:ext cx="17830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01A16"/>
                </a:solidFill>
                <a:latin typeface="MiSans Normal"/>
                <a:ea typeface="MiSans Normal"/>
              </a:rPr>
              <a:t>—｜個人撮合</a:t>
            </a:r>
          </a:p>
        </p:txBody>
      </p:sp>
      <p:sp>
        <p:nvSpPr>
          <p:cNvPr id="170" name="Comparison r7c7"/>
          <p:cNvSpPr/>
          <p:nvPr/>
        </p:nvSpPr>
        <p:spPr>
          <a:xfrm>
            <a:off x="7296912" y="4882896"/>
            <a:ext cx="14173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40" b="0" dirty="0">
                <a:solidFill>
                  <a:srgbClr val="101A16"/>
                </a:solidFill>
                <a:latin typeface="MiSans Normal"/>
                <a:ea typeface="MiSans Normal"/>
              </a:rPr>
              <a:t>¥0</a:t>
            </a:r>
          </a:p>
        </p:txBody>
      </p:sp>
      <p:sp>
        <p:nvSpPr>
          <p:cNvPr id="171" name="Comparison r7c8"/>
          <p:cNvSpPr/>
          <p:nvPr/>
        </p:nvSpPr>
        <p:spPr>
          <a:xfrm>
            <a:off x="8714232" y="4882896"/>
            <a:ext cx="15087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40" b="0" dirty="0">
                <a:solidFill>
                  <a:srgbClr val="101A16"/>
                </a:solidFill>
                <a:latin typeface="MiSans Normal"/>
                <a:ea typeface="MiSans Normal"/>
              </a:rPr>
              <a:t>50%</a:t>
            </a:r>
          </a:p>
        </p:txBody>
      </p:sp>
      <p:sp>
        <p:nvSpPr>
          <p:cNvPr id="172" name="Comparison r7c9"/>
          <p:cNvSpPr/>
          <p:nvPr/>
        </p:nvSpPr>
        <p:spPr>
          <a:xfrm>
            <a:off x="10222992" y="4882896"/>
            <a:ext cx="14630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40" b="0" dirty="0">
                <a:solidFill>
                  <a:srgbClr val="101A16"/>
                </a:solidFill>
                <a:latin typeface="MiSans Normal"/>
                <a:ea typeface="MiSans Normal"/>
              </a:rPr>
              <a:t>-</a:t>
            </a:r>
            <a:endParaRPr sz="840" b="0" dirty="0">
              <a:solidFill>
                <a:srgbClr val="101A16"/>
              </a:solidFill>
              <a:latin typeface="MiSans Normal"/>
              <a:ea typeface="MiSans Normal"/>
            </a:endParaRPr>
          </a:p>
        </p:txBody>
      </p:sp>
      <p:sp>
        <p:nvSpPr>
          <p:cNvPr id="173" name="Comparison r8c1"/>
          <p:cNvSpPr/>
          <p:nvPr/>
        </p:nvSpPr>
        <p:spPr>
          <a:xfrm>
            <a:off x="502920" y="5358383"/>
            <a:ext cx="182880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16"/>
                </a:solidFill>
                <a:latin typeface="MiSans Normal"/>
                <a:ea typeface="MiSans Normal"/>
              </a:rPr>
              <a:t>やりかの</a:t>
            </a:r>
          </a:p>
        </p:txBody>
      </p:sp>
      <p:sp>
        <p:nvSpPr>
          <p:cNvPr id="174" name="Comparison r8c2"/>
          <p:cNvSpPr/>
          <p:nvPr/>
        </p:nvSpPr>
        <p:spPr>
          <a:xfrm>
            <a:off x="2331720" y="5358383"/>
            <a:ext cx="749808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75" name="Comparison r8c3"/>
          <p:cNvSpPr/>
          <p:nvPr/>
        </p:nvSpPr>
        <p:spPr>
          <a:xfrm>
            <a:off x="3081527" y="5358383"/>
            <a:ext cx="749808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76" name="Comparison r8c4"/>
          <p:cNvSpPr/>
          <p:nvPr/>
        </p:nvSpPr>
        <p:spPr>
          <a:xfrm>
            <a:off x="3831335" y="5358383"/>
            <a:ext cx="804672" cy="475488"/>
          </a:xfrm>
          <a:prstGeom prst="rect">
            <a:avLst/>
          </a:prstGeom>
          <a:solidFill>
            <a:srgbClr val="EAF4EE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5943"/>
                </a:solidFill>
                <a:latin typeface="MiSans Normal"/>
                <a:ea typeface="MiSans Normal"/>
              </a:rPr>
              <a:t>✓</a:t>
            </a:r>
          </a:p>
        </p:txBody>
      </p:sp>
      <p:sp>
        <p:nvSpPr>
          <p:cNvPr id="177" name="Comparison r8c5"/>
          <p:cNvSpPr/>
          <p:nvPr/>
        </p:nvSpPr>
        <p:spPr>
          <a:xfrm>
            <a:off x="4636007" y="5358383"/>
            <a:ext cx="877824" cy="475488"/>
          </a:xfrm>
          <a:prstGeom prst="rect">
            <a:avLst/>
          </a:prstGeom>
          <a:solidFill>
            <a:srgbClr val="F2F4F3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36D"/>
                </a:solidFill>
                <a:latin typeface="MiSans Normal"/>
                <a:ea typeface="MiSans Normal"/>
              </a:rPr>
              <a:t>—</a:t>
            </a:r>
          </a:p>
        </p:txBody>
      </p:sp>
      <p:sp>
        <p:nvSpPr>
          <p:cNvPr id="178" name="Comparison r8c6"/>
          <p:cNvSpPr/>
          <p:nvPr/>
        </p:nvSpPr>
        <p:spPr>
          <a:xfrm>
            <a:off x="5513831" y="5358383"/>
            <a:ext cx="178308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01A16"/>
                </a:solidFill>
                <a:latin typeface="MiSans Normal"/>
                <a:ea typeface="MiSans Normal"/>
              </a:rPr>
              <a:t>—｜個人預約</a:t>
            </a:r>
          </a:p>
        </p:txBody>
      </p:sp>
      <p:sp>
        <p:nvSpPr>
          <p:cNvPr id="179" name="Comparison r8c7"/>
          <p:cNvSpPr/>
          <p:nvPr/>
        </p:nvSpPr>
        <p:spPr>
          <a:xfrm>
            <a:off x="7296912" y="5358383"/>
            <a:ext cx="141732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840" b="0" dirty="0">
                <a:solidFill>
                  <a:srgbClr val="101A16"/>
                </a:solidFill>
                <a:latin typeface="MiSans Normal"/>
                <a:ea typeface="MiSans Normal"/>
              </a:rPr>
              <a:t>¥0</a:t>
            </a:r>
          </a:p>
        </p:txBody>
      </p:sp>
      <p:sp>
        <p:nvSpPr>
          <p:cNvPr id="180" name="Comparison r8c8"/>
          <p:cNvSpPr/>
          <p:nvPr/>
        </p:nvSpPr>
        <p:spPr>
          <a:xfrm>
            <a:off x="8714232" y="5358383"/>
            <a:ext cx="150876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40" b="0" dirty="0">
                <a:solidFill>
                  <a:srgbClr val="101A16"/>
                </a:solidFill>
                <a:latin typeface="MiSans Normal"/>
                <a:ea typeface="MiSans Normal"/>
              </a:rPr>
              <a:t>50%</a:t>
            </a:r>
          </a:p>
        </p:txBody>
      </p:sp>
      <p:sp>
        <p:nvSpPr>
          <p:cNvPr id="181" name="Comparison r8c9"/>
          <p:cNvSpPr/>
          <p:nvPr/>
        </p:nvSpPr>
        <p:spPr>
          <a:xfrm>
            <a:off x="10222992" y="5358383"/>
            <a:ext cx="1463040" cy="475488"/>
          </a:xfrm>
          <a:prstGeom prst="rect">
            <a:avLst/>
          </a:prstGeom>
          <a:solidFill>
            <a:srgbClr val="F7FAF8"/>
          </a:solidFill>
          <a:ln w="6985"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840" b="0" dirty="0">
                <a:solidFill>
                  <a:srgbClr val="101A16"/>
                </a:solidFill>
                <a:latin typeface="MiSans Normal"/>
                <a:ea typeface="MiSans Normal"/>
              </a:rPr>
              <a:t>-</a:t>
            </a:r>
          </a:p>
        </p:txBody>
      </p:sp>
      <p:sp>
        <p:nvSpPr>
          <p:cNvPr id="182" name="NeeDo comparison insight"/>
          <p:cNvSpPr/>
          <p:nvPr/>
        </p:nvSpPr>
        <p:spPr>
          <a:xfrm>
            <a:off x="502920" y="5971032"/>
            <a:ext cx="11183112" cy="393192"/>
          </a:xfrm>
          <a:prstGeom prst="roundRect">
            <a:avLst/>
          </a:prstGeom>
          <a:solidFill>
            <a:srgbClr val="0B5943"/>
          </a:solidFill>
          <a:ln w="10160">
            <a:solidFill>
              <a:srgbClr val="0B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83"/>
          <p:cNvSpPr txBox="1"/>
          <p:nvPr/>
        </p:nvSpPr>
        <p:spPr>
          <a:xfrm>
            <a:off x="667512" y="6025896"/>
            <a:ext cx="10853928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FFFFFF"/>
                </a:solidFill>
                <a:latin typeface="MiSans Normal"/>
                <a:ea typeface="MiSans Normal"/>
              </a:rPr>
              <a:t>投資人視角｜在本次 7 項服務中，NeeDo 目標模型唯一同時整合到店、上門、個人 Request、商戶 SaaS 與多語言。</a:t>
            </a:r>
          </a:p>
        </p:txBody>
      </p:sp>
      <p:sp>
        <p:nvSpPr>
          <p:cNvPr id="184" name="Source note"/>
          <p:cNvSpPr txBox="1"/>
          <p:nvPr/>
        </p:nvSpPr>
        <p:spPr>
          <a:xfrm>
            <a:off x="502920" y="6464808"/>
            <a:ext cx="10469880" cy="13716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66736D"/>
                </a:solidFill>
                <a:latin typeface="MiSans Normal"/>
                <a:ea typeface="MiSans Normal"/>
              </a:rPr>
              <a:t>✓＝核心能力　△＝部分支持　—＝官方公開資料未確認；SaaS 易用度為公開功能整合與開通路徑的相對判斷，非用戶調研。資料截至 2026-08-25。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erence-style 3D scene" descr="/Users/eason/Documents/New project/assets/needo-roadshow-reference-style/market-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06</a:t>
            </a:r>
          </a:p>
        </p:txBody>
      </p:sp>
      <p:sp>
        <p:nvSpPr>
          <p:cNvPr id="6" name="Slide title"/>
          <p:cNvSpPr/>
          <p:nvPr/>
        </p:nvSpPr>
        <p:spPr>
          <a:xfrm>
            <a:off x="502920" y="868680"/>
            <a:ext cx="10954513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一個系統完成：預約、履約、調度、溝通與增長</a:t>
            </a:r>
          </a:p>
        </p:txBody>
      </p:sp>
      <p:sp>
        <p:nvSpPr>
          <p:cNvPr id="7" name="Pill: 多語預約"/>
          <p:cNvSpPr/>
          <p:nvPr/>
        </p:nvSpPr>
        <p:spPr>
          <a:xfrm>
            <a:off x="594360" y="2057400"/>
            <a:ext cx="1901952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8" name="Pill label"/>
          <p:cNvSpPr/>
          <p:nvPr/>
        </p:nvSpPr>
        <p:spPr>
          <a:xfrm>
            <a:off x="685800" y="21214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多語預約</a:t>
            </a:r>
            <a:endParaRPr lang="en-US" sz="113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9" name="Pill: AI 排班"/>
          <p:cNvSpPr/>
          <p:nvPr/>
        </p:nvSpPr>
        <p:spPr>
          <a:xfrm>
            <a:off x="2743200" y="2057400"/>
            <a:ext cx="1901952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0" name="Pill label"/>
          <p:cNvSpPr/>
          <p:nvPr/>
        </p:nvSpPr>
        <p:spPr>
          <a:xfrm>
            <a:off x="2834640" y="21214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智能排班</a:t>
            </a:r>
          </a:p>
        </p:txBody>
      </p:sp>
      <p:sp>
        <p:nvSpPr>
          <p:cNvPr id="11" name="Pill: 店鋪／服務者 IM"/>
          <p:cNvSpPr/>
          <p:nvPr/>
        </p:nvSpPr>
        <p:spPr>
          <a:xfrm>
            <a:off x="594360" y="2624328"/>
            <a:ext cx="1901952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2" name="Pill label"/>
          <p:cNvSpPr/>
          <p:nvPr/>
        </p:nvSpPr>
        <p:spPr>
          <a:xfrm>
            <a:off x="685800" y="26883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店鋪／服務者 IM</a:t>
            </a:r>
            <a:endParaRPr lang="en-US" sz="113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3" name="Pill: 透明點單"/>
          <p:cNvSpPr/>
          <p:nvPr/>
        </p:nvSpPr>
        <p:spPr>
          <a:xfrm>
            <a:off x="2743200" y="2624328"/>
            <a:ext cx="1901952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4" name="Pill label"/>
          <p:cNvSpPr/>
          <p:nvPr/>
        </p:nvSpPr>
        <p:spPr>
          <a:xfrm>
            <a:off x="2834640" y="26883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透明點單</a:t>
            </a:r>
            <a:endParaRPr lang="en-US" sz="113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5" name="Pill: CPS 歸因與結算"/>
          <p:cNvSpPr/>
          <p:nvPr/>
        </p:nvSpPr>
        <p:spPr>
          <a:xfrm>
            <a:off x="594360" y="3191256"/>
            <a:ext cx="3794760" cy="384048"/>
          </a:xfrm>
          <a:prstGeom prst="roundRect">
            <a:avLst/>
          </a:prstGeom>
          <a:solidFill>
            <a:srgbClr val="FDE9CE"/>
          </a:solidFill>
          <a:ln w="8890">
            <a:solidFill>
              <a:srgbClr val="F39A24"/>
            </a:solidFill>
            <a:prstDash val="solid"/>
          </a:ln>
        </p:spPr>
        <p:txBody>
          <a:bodyPr/>
          <a:p/>
        </p:txBody>
      </p:sp>
      <p:sp>
        <p:nvSpPr>
          <p:cNvPr id="16" name="Pill label"/>
          <p:cNvSpPr/>
          <p:nvPr/>
        </p:nvSpPr>
        <p:spPr>
          <a:xfrm>
            <a:off x="685800" y="32552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A85D55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CPS 歸因與結算</a:t>
            </a:r>
            <a:endParaRPr lang="en-US" sz="113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7" name="Rounded card"/>
          <p:cNvSpPr/>
          <p:nvPr/>
        </p:nvSpPr>
        <p:spPr>
          <a:xfrm>
            <a:off x="594360" y="4005072"/>
            <a:ext cx="3794760" cy="1005840"/>
          </a:xfrm>
          <a:prstGeom prst="roundRect">
            <a:avLst/>
          </a:prstGeom>
          <a:solidFill>
            <a:srgbClr val="E9F4ED"/>
          </a:solidFill>
          <a:ln w="10160">
            <a:solidFill>
              <a:srgbClr val="88CFA8"/>
            </a:solidFill>
            <a:prstDash val="solid"/>
          </a:ln>
        </p:spPr>
        <p:txBody>
          <a:bodyPr/>
          <a:p/>
        </p:txBody>
      </p:sp>
      <p:sp>
        <p:nvSpPr>
          <p:cNvPr id="18" name="Card body"/>
          <p:cNvSpPr/>
          <p:nvPr/>
        </p:nvSpPr>
        <p:spPr>
          <a:xfrm>
            <a:off x="795528" y="4114800"/>
            <a:ext cx="33924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一個訂單 ID 串連需求、供給、場所、變更、履約、退款與佣金狀態。</a:t>
            </a:r>
            <a:endParaRPr lang="en-US" sz="13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9" name="Rounded card"/>
          <p:cNvSpPr/>
          <p:nvPr/>
        </p:nvSpPr>
        <p:spPr>
          <a:xfrm>
            <a:off x="502920" y="5532120"/>
            <a:ext cx="11155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20" name="Card body"/>
          <p:cNvSpPr/>
          <p:nvPr/>
        </p:nvSpPr>
        <p:spPr>
          <a:xfrm>
            <a:off x="704088" y="5641848"/>
            <a:ext cx="10753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產品不是單一流量入口，而是把需求、供給、場所、履約與結算放進同一個作業系統；所有模組均以權限、審計與可驗證事件為邊界。目前僅為可操作原型；尚無真實歸因 GMV 或 CPS 收入，不納入核心模型，須待正式後端、交易與渠道數據驗證。</a:t>
            </a:r>
            <a:endParaRPr lang="en-US" sz="9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1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資料來源：S5、S7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2" name="NeeDo wordmark">
            <a:extLst>
              <a:ext uri="{FF2B5EF4-FFF2-40B4-BE49-F238E27FC236}">
                <a16:creationId xmlns:a16="http://schemas.microsoft.com/office/drawing/2014/main" id="{FEA1428C-D90C-EBB3-5A2A-56790B8D2B82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23" name="Section label">
            <a:extLst>
              <a:ext uri="{FF2B5EF4-FFF2-40B4-BE49-F238E27FC236}">
                <a16:creationId xmlns:a16="http://schemas.microsoft.com/office/drawing/2014/main" id="{68368B5C-D28A-15B0-68B8-BFFFEA6BDF6D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erence-style 3D scene" descr="/Users/eason/Documents/New project/assets/needo-roadshow-reference-style/dual-eng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07</a:t>
            </a:r>
          </a:p>
        </p:txBody>
      </p:sp>
      <p:sp>
        <p:nvSpPr>
          <p:cNvPr id="6" name="Slide title"/>
          <p:cNvSpPr/>
          <p:nvPr/>
        </p:nvSpPr>
        <p:spPr>
          <a:xfrm>
            <a:off x="502920" y="868680"/>
            <a:ext cx="10954513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Booking 做預約底盤，Request 解決即時與稀缺需求</a:t>
            </a:r>
          </a:p>
        </p:txBody>
      </p:sp>
      <p:sp>
        <p:nvSpPr>
          <p:cNvPr id="7" name="Card: Booking 普通預約"/>
          <p:cNvSpPr/>
          <p:nvPr/>
        </p:nvSpPr>
        <p:spPr>
          <a:xfrm>
            <a:off x="566928" y="1879092"/>
            <a:ext cx="242316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Card title"/>
          <p:cNvSpPr/>
          <p:nvPr/>
        </p:nvSpPr>
        <p:spPr>
          <a:xfrm>
            <a:off x="768096" y="2043684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Booking 普通預約</a:t>
            </a:r>
            <a:endParaRPr lang="en-US" sz="16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9" name="Card body"/>
          <p:cNvSpPr/>
          <p:nvPr/>
        </p:nvSpPr>
        <p:spPr>
          <a:xfrm>
            <a:off x="768096" y="2482596"/>
            <a:ext cx="2020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計畫型需求</a:t>
            </a:r>
            <a:endParaRPr lang="en-US" sz="11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選擇時間 → 接單確認 → 完成履約</a:t>
            </a:r>
            <a:endParaRPr lang="en-US" sz="11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Card: Request 急速發單"/>
          <p:cNvSpPr/>
          <p:nvPr/>
        </p:nvSpPr>
        <p:spPr>
          <a:xfrm>
            <a:off x="9189720" y="1572768"/>
            <a:ext cx="2423160" cy="1261872"/>
          </a:xfrm>
          <a:prstGeom prst="roundRect">
            <a:avLst/>
          </a:prstGeom>
          <a:solidFill>
            <a:srgbClr val="FDE9CE"/>
          </a:solidFill>
          <a:ln w="10160">
            <a:solidFill>
              <a:srgbClr val="F39A24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Card title"/>
          <p:cNvSpPr/>
          <p:nvPr/>
        </p:nvSpPr>
        <p:spPr>
          <a:xfrm>
            <a:off x="9390888" y="1737360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85D55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Request 急速發單</a:t>
            </a:r>
            <a:endParaRPr lang="en-US" sz="16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2" name="Card body"/>
          <p:cNvSpPr/>
          <p:nvPr/>
        </p:nvSpPr>
        <p:spPr>
          <a:xfrm>
            <a:off x="9390888" y="2176272"/>
            <a:ext cx="2020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即時型需求</a:t>
            </a:r>
            <a:endParaRPr lang="en-US" sz="11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廣播需求 → 搶單確認 → 完成履約</a:t>
            </a:r>
            <a:endParaRPr lang="en-US" sz="11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Pill: 統一進入履約、積分、風控與審計帳本"/>
          <p:cNvSpPr/>
          <p:nvPr/>
        </p:nvSpPr>
        <p:spPr>
          <a:xfrm>
            <a:off x="4519860" y="4709160"/>
            <a:ext cx="384048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88CFA8"/>
            </a:solidFill>
            <a:prstDash val="solid"/>
          </a:ln>
        </p:spPr>
        <p:txBody>
          <a:bodyPr/>
          <a:p/>
        </p:txBody>
      </p:sp>
      <p:sp>
        <p:nvSpPr>
          <p:cNvPr id="14" name="Pill label"/>
          <p:cNvSpPr/>
          <p:nvPr/>
        </p:nvSpPr>
        <p:spPr>
          <a:xfrm>
            <a:off x="461130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統一進入履約、積分、風控與審計帳本</a:t>
            </a:r>
            <a:endParaRPr lang="en-US" sz="12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5" name="Rounded card"/>
          <p:cNvSpPr/>
          <p:nvPr/>
        </p:nvSpPr>
        <p:spPr>
          <a:xfrm>
            <a:off x="502920" y="5248656"/>
            <a:ext cx="111556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6" name="Card body"/>
          <p:cNvSpPr/>
          <p:nvPr/>
        </p:nvSpPr>
        <p:spPr>
          <a:xfrm>
            <a:off x="704088" y="5358384"/>
            <a:ext cx="10753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從發現、選擇、確認、調度、履約到結算，每一步保留可驗證資料，讓成功、取消、替補、退款與佣金都能被歸因。</a:t>
            </a:r>
            <a:endParaRPr lang="en-US" sz="9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資料來源：S5、S7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NeeDo wordmark">
            <a:extLst>
              <a:ext uri="{FF2B5EF4-FFF2-40B4-BE49-F238E27FC236}">
                <a16:creationId xmlns:a16="http://schemas.microsoft.com/office/drawing/2014/main" id="{996DE1DC-0011-9242-6693-ED4F64DC99C3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9" name="Section label">
            <a:extLst>
              <a:ext uri="{FF2B5EF4-FFF2-40B4-BE49-F238E27FC236}">
                <a16:creationId xmlns:a16="http://schemas.microsoft.com/office/drawing/2014/main" id="{E3349541-59B5-2A3F-A99A-A0889356E1DF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4088" y="5669280"/>
            <a:ext cx="10753344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/>
            </a:pPr>
            <a:r>
              <a:rPr sz="1150" b="1">
                <a:solidFill>
                  <a:srgbClr val="0B5943"/>
                </a:solidFill>
                <a:latin typeface="MiSans Normal"/>
              </a:rPr>
              <a:t>東京試點目標：Request 佔比 15–20%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13</a:t>
            </a:r>
          </a:p>
        </p:txBody>
      </p:sp>
      <p:sp>
        <p:nvSpPr>
          <p:cNvPr id="5" name="Slide title"/>
          <p:cNvSpPr/>
          <p:nvPr/>
        </p:nvSpPr>
        <p:spPr>
          <a:xfrm>
            <a:off x="502920" y="868680"/>
            <a:ext cx="10954513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產品進度：核心體驗可操作，本輪完成正式商業化底座</a:t>
            </a:r>
          </a:p>
        </p:txBody>
      </p:sp>
      <p:sp>
        <p:nvSpPr>
          <p:cNvPr id="6" name="Card: 已可操作"/>
          <p:cNvSpPr/>
          <p:nvPr/>
        </p:nvSpPr>
        <p:spPr>
          <a:xfrm>
            <a:off x="603504" y="1591056"/>
            <a:ext cx="3438144" cy="3639312"/>
          </a:xfrm>
          <a:prstGeom prst="roundRect">
            <a:avLst/>
          </a:prstGeom>
          <a:solidFill>
            <a:srgbClr val="0B5943"/>
          </a:solidFill>
          <a:ln w="10160">
            <a:solidFill>
              <a:srgbClr val="0B5943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Card title"/>
          <p:cNvSpPr/>
          <p:nvPr/>
        </p:nvSpPr>
        <p:spPr>
          <a:xfrm>
            <a:off x="804672" y="197393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已可操作</a:t>
            </a:r>
            <a:endParaRPr lang="en-US" sz="20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8" name="Card body"/>
          <p:cNvSpPr/>
          <p:nvPr/>
        </p:nvSpPr>
        <p:spPr>
          <a:xfrm>
            <a:off x="804672" y="2758764"/>
            <a:ext cx="3035808" cy="2153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✓ 預約與排班流程</a:t>
            </a: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✓ 三端高保真產品</a:t>
            </a: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✓ 透明點單原型</a:t>
            </a: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✓ CPS 推廣流程</a:t>
            </a:r>
            <a:endParaRPr lang="en-US" sz="13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Card: 本輪完成"/>
          <p:cNvSpPr/>
          <p:nvPr/>
        </p:nvSpPr>
        <p:spPr>
          <a:xfrm>
            <a:off x="4425696" y="1591056"/>
            <a:ext cx="3438144" cy="3639312"/>
          </a:xfrm>
          <a:prstGeom prst="roundRect">
            <a:avLst/>
          </a:prstGeom>
          <a:solidFill>
            <a:srgbClr val="2E8B62"/>
          </a:solidFill>
          <a:ln w="10160">
            <a:solidFill>
              <a:srgbClr val="2E8B62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Card title"/>
          <p:cNvSpPr/>
          <p:nvPr/>
        </p:nvSpPr>
        <p:spPr>
          <a:xfrm>
            <a:off x="4626864" y="197393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本輪完成</a:t>
            </a:r>
            <a:endParaRPr lang="en-US" sz="20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1" name="Card body"/>
          <p:cNvSpPr/>
          <p:nvPr/>
        </p:nvSpPr>
        <p:spPr>
          <a:xfrm>
            <a:off x="4626864" y="2758764"/>
            <a:ext cx="3035808" cy="2153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✓ 正式後端與資料庫</a:t>
            </a: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✓ Auth／RBAC／審計</a:t>
            </a: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✓ 支付、退款與結算</a:t>
            </a: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✓ 真實歸因與營運指標</a:t>
            </a:r>
            <a:endParaRPr lang="en-US" sz="13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Card: 尚未宣稱"/>
          <p:cNvSpPr/>
          <p:nvPr/>
        </p:nvSpPr>
        <p:spPr>
          <a:xfrm>
            <a:off x="8247888" y="1591056"/>
            <a:ext cx="3438144" cy="3639312"/>
          </a:xfrm>
          <a:prstGeom prst="roundRect">
            <a:avLst/>
          </a:prstGeom>
          <a:solidFill>
            <a:srgbClr val="FDE9CE"/>
          </a:solidFill>
          <a:ln w="10160">
            <a:solidFill>
              <a:srgbClr val="F39A24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Card title"/>
          <p:cNvSpPr/>
          <p:nvPr/>
        </p:nvSpPr>
        <p:spPr>
          <a:xfrm>
            <a:off x="8449056" y="197393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85D55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尚未宣稱</a:t>
            </a:r>
            <a:endParaRPr lang="en-US" sz="20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4" name="Card body"/>
          <p:cNvSpPr/>
          <p:nvPr/>
        </p:nvSpPr>
        <p:spPr>
          <a:xfrm>
            <a:off x="8449056" y="2758764"/>
            <a:ext cx="3035808" cy="2153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A85D55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✓ 付費店鋪規模</a:t>
            </a: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A85D55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✓ 真實 GMV／CPS 收入</a:t>
            </a: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A85D55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✓ CAC 與留存已驗證</a:t>
            </a: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endParaRPr lang="en-US" sz="1350" dirty="0">
              <a:latin typeface="MiSans Normal" pitchFamily="2" charset="-122"/>
              <a:ea typeface="MiSans Normal" pitchFamily="2" charset="-122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A85D55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✓ 成人向業態商用</a:t>
            </a:r>
            <a:endParaRPr lang="en-US" sz="13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Rounded card"/>
          <p:cNvSpPr/>
          <p:nvPr/>
        </p:nvSpPr>
        <p:spPr>
          <a:xfrm>
            <a:off x="502920" y="5532120"/>
            <a:ext cx="11155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6" name="Card body"/>
          <p:cNvSpPr/>
          <p:nvPr/>
        </p:nvSpPr>
        <p:spPr>
          <a:xfrm>
            <a:off x="704088" y="5641848"/>
            <a:ext cx="10753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目前已有可操作原型與產品流程；本輪資金優先用於正式後端、資料庫、權限、支付、審計、商業化與真實留存／付費數據。目前僅為可操作原型；尚無真實歸因 GMV 或 CPS 收入，不納入核心模型，須待正式後端、交易與渠道數據驗證。</a:t>
            </a:r>
            <a:endParaRPr lang="en-US" sz="9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Risk disclosure"/>
          <p:cNvSpPr/>
          <p:nvPr/>
        </p:nvSpPr>
        <p:spPr>
          <a:xfrm>
            <a:off x="502920" y="6035040"/>
            <a:ext cx="11155680" cy="356616"/>
          </a:xfrm>
          <a:prstGeom prst="roundRect">
            <a:avLst/>
          </a:prstGeom>
          <a:solidFill>
            <a:srgbClr val="FDE9CE"/>
          </a:solidFill>
          <a:ln w="7620">
            <a:solidFill>
              <a:srgbClr val="F39A24"/>
            </a:solidFill>
            <a:prstDash val="solid"/>
          </a:ln>
        </p:spPr>
        <p:txBody>
          <a:bodyPr/>
          <a:p/>
        </p:txBody>
      </p:sp>
      <p:sp>
        <p:nvSpPr>
          <p:cNvPr id="18" name="Disclosure text"/>
          <p:cNvSpPr/>
          <p:nvPr/>
        </p:nvSpPr>
        <p:spPr>
          <a:xfrm>
            <a:off x="630936" y="6089904"/>
            <a:ext cx="10899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A85D55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透明點單與 CPS 目前為可操作原型；尚無真實歸因 GMV 或 CPS 收入，不納入核心財務模型。</a:t>
            </a:r>
            <a:endParaRPr lang="en-US" sz="87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9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資料來源：S5、S7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NeeDo wordmark">
            <a:extLst>
              <a:ext uri="{FF2B5EF4-FFF2-40B4-BE49-F238E27FC236}">
                <a16:creationId xmlns:a16="http://schemas.microsoft.com/office/drawing/2014/main" id="{A1F5306A-B87B-A8EE-FCDA-051DE5387AB5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21" name="Section label">
            <a:extLst>
              <a:ext uri="{FF2B5EF4-FFF2-40B4-BE49-F238E27FC236}">
                <a16:creationId xmlns:a16="http://schemas.microsoft.com/office/drawing/2014/main" id="{F92A3C02-BC38-5B42-5722-CD1D16C1AD3A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erence-style 3D scene" descr="/Users/eason/Documents/New project/assets/needo-roadshow-reference-style/market-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</a:t>
            </a:r>
          </a:p>
        </p:txBody>
      </p:sp>
      <p:sp>
        <p:nvSpPr>
          <p:cNvPr id="6" name="Slide title"/>
          <p:cNvSpPr/>
          <p:nvPr/>
        </p:nvSpPr>
        <p:spPr>
          <a:xfrm>
            <a:off x="502920" y="868680"/>
            <a:ext cx="10954513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Traction：100+ 店鋪使用意向，下一步轉成付費與活躍</a:t>
            </a:r>
          </a:p>
        </p:txBody>
      </p:sp>
      <p:sp>
        <p:nvSpPr>
          <p:cNvPr id="7" name="Hero number"/>
          <p:cNvSpPr/>
          <p:nvPr/>
        </p:nvSpPr>
        <p:spPr>
          <a:xfrm>
            <a:off x="621792" y="1828800"/>
            <a:ext cx="310896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6200" b="1" dirty="0">
                <a:solidFill>
                  <a:srgbClr val="2E8B62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100+</a:t>
            </a:r>
            <a:endParaRPr lang="en-US" sz="62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Hero label"/>
          <p:cNvSpPr/>
          <p:nvPr/>
        </p:nvSpPr>
        <p:spPr>
          <a:xfrm>
            <a:off x="621792" y="25694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店鋪使用意向</a:t>
            </a:r>
            <a:endParaRPr lang="en-US" sz="12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Hero detail"/>
          <p:cNvSpPr/>
          <p:nvPr/>
        </p:nvSpPr>
        <p:spPr>
          <a:xfrm>
            <a:off x="621792" y="286573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公司商談紀錄｜截至 2026-08-23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Card: 下一步驗證"/>
          <p:cNvSpPr/>
          <p:nvPr/>
        </p:nvSpPr>
        <p:spPr>
          <a:xfrm>
            <a:off x="621792" y="3401568"/>
            <a:ext cx="42976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Card title"/>
          <p:cNvSpPr/>
          <p:nvPr/>
        </p:nvSpPr>
        <p:spPr>
          <a:xfrm>
            <a:off x="822960" y="3566160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下一步驗證</a:t>
            </a:r>
            <a:endParaRPr lang="en-US" sz="17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Card body"/>
          <p:cNvSpPr/>
          <p:nvPr/>
        </p:nvSpPr>
        <p:spPr>
          <a:xfrm>
            <a:off x="822960" y="4005072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CRM 名單 → 試點邀請 → 正式合約 → 收款 → 激活 → 首單 → 留存</a:t>
            </a:r>
            <a:endParaRPr lang="en-US" sz="12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Pill: 使用意向 ≠ 簽約 ≠ 付費 ≠ 營收 ≠ GMV"/>
          <p:cNvSpPr/>
          <p:nvPr/>
        </p:nvSpPr>
        <p:spPr>
          <a:xfrm>
            <a:off x="822960" y="4956048"/>
            <a:ext cx="3886200" cy="310896"/>
          </a:xfrm>
          <a:prstGeom prst="roundRect">
            <a:avLst/>
          </a:prstGeom>
          <a:solidFill>
            <a:srgbClr val="FDE9CE"/>
          </a:solidFill>
          <a:ln w="8890">
            <a:solidFill>
              <a:srgbClr val="F39A24"/>
            </a:solidFill>
            <a:prstDash val="solid"/>
          </a:ln>
        </p:spPr>
        <p:txBody>
          <a:bodyPr/>
          <a:p/>
        </p:txBody>
      </p:sp>
      <p:sp>
        <p:nvSpPr>
          <p:cNvPr id="14" name="Pill label"/>
          <p:cNvSpPr/>
          <p:nvPr/>
        </p:nvSpPr>
        <p:spPr>
          <a:xfrm>
            <a:off x="914400" y="502005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A85D55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使用意向 ≠ 簽約 ≠ 付費 ≠ 營收 ≠ GMV</a:t>
            </a:r>
            <a:endParaRPr lang="en-US" sz="114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Rounded card"/>
          <p:cNvSpPr/>
          <p:nvPr/>
        </p:nvSpPr>
        <p:spPr>
          <a:xfrm>
            <a:off x="502920" y="5532120"/>
            <a:ext cx="11155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6" name="Card body"/>
          <p:cNvSpPr/>
          <p:nvPr/>
        </p:nvSpPr>
        <p:spPr>
          <a:xfrm>
            <a:off x="704088" y="5641848"/>
            <a:ext cx="10753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超過 100 家店鋪表達使用意向；此數字是商談訊號，不等同已簽約、已付費或已產生 GMV，後續以 CRM、合約與收款紀錄驗證。</a:t>
            </a:r>
            <a:endParaRPr lang="en-US" sz="9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Risk disclosure"/>
          <p:cNvSpPr/>
          <p:nvPr/>
        </p:nvSpPr>
        <p:spPr>
          <a:xfrm>
            <a:off x="502920" y="6035040"/>
            <a:ext cx="11155680" cy="356616"/>
          </a:xfrm>
          <a:prstGeom prst="roundRect">
            <a:avLst/>
          </a:prstGeom>
          <a:solidFill>
            <a:srgbClr val="FDE9CE"/>
          </a:solidFill>
          <a:ln w="7620">
            <a:solidFill>
              <a:srgbClr val="F39A24"/>
            </a:solidFill>
            <a:prstDash val="solid"/>
          </a:ln>
        </p:spPr>
        <p:txBody>
          <a:bodyPr/>
          <a:p/>
        </p:txBody>
      </p:sp>
      <p:sp>
        <p:nvSpPr>
          <p:cNvPr id="18" name="Disclosure text"/>
          <p:cNvSpPr/>
          <p:nvPr/>
        </p:nvSpPr>
        <p:spPr>
          <a:xfrm>
            <a:off x="630936" y="6089904"/>
            <a:ext cx="10899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A85D55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100+ 店鋪為使用意向，不是簽約、付費、營收或活躍店鋪；後續以 CRM、合約與收款紀錄驗證。</a:t>
            </a:r>
            <a:endParaRPr lang="en-US" sz="87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9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資料來源：S7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NeeDo wordmark">
            <a:extLst>
              <a:ext uri="{FF2B5EF4-FFF2-40B4-BE49-F238E27FC236}">
                <a16:creationId xmlns:a16="http://schemas.microsoft.com/office/drawing/2014/main" id="{B230F53B-FB4F-9623-F015-F10C02F5BF90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21" name="Section label">
            <a:extLst>
              <a:ext uri="{FF2B5EF4-FFF2-40B4-BE49-F238E27FC236}">
                <a16:creationId xmlns:a16="http://schemas.microsoft.com/office/drawing/2014/main" id="{BD3DE4B5-396A-4981-9E79-572427C52D87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erence-style 3D scene" descr="/Users/eason/Documents/New project/assets/needo-roadshow-reference-style/tokyo-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11</a:t>
            </a:r>
          </a:p>
        </p:txBody>
      </p:sp>
      <p:sp>
        <p:nvSpPr>
          <p:cNvPr id="6" name="Slide title"/>
          <p:cNvSpPr/>
          <p:nvPr/>
        </p:nvSpPr>
        <p:spPr>
          <a:xfrm>
            <a:off x="502920" y="868680"/>
            <a:ext cx="10954513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GTM：東京核心區先做供給密度，再放大需求</a:t>
            </a:r>
          </a:p>
        </p:txBody>
      </p:sp>
      <p:sp>
        <p:nvSpPr>
          <p:cNvPr id="7" name="Card: 東京核心試點"/>
          <p:cNvSpPr/>
          <p:nvPr/>
        </p:nvSpPr>
        <p:spPr>
          <a:xfrm>
            <a:off x="566928" y="1572768"/>
            <a:ext cx="38862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Card title"/>
          <p:cNvSpPr/>
          <p:nvPr/>
        </p:nvSpPr>
        <p:spPr>
          <a:xfrm>
            <a:off x="768096" y="1737360"/>
            <a:ext cx="3483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東京核心試點</a:t>
            </a:r>
            <a:endParaRPr lang="en-US" sz="17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Card body"/>
          <p:cNvSpPr/>
          <p:nvPr/>
        </p:nvSpPr>
        <p:spPr>
          <a:xfrm>
            <a:off x="768096" y="2176272"/>
            <a:ext cx="3483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優先聚焦高密度商圈、飯店與上門需求；以店鋪激活、首單、響應、履約與復購作為擴張閘門。</a:t>
            </a:r>
            <a:endParaRPr lang="en-US" sz="11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Pill: 意向轉試點"/>
          <p:cNvSpPr/>
          <p:nvPr/>
        </p:nvSpPr>
        <p:spPr>
          <a:xfrm>
            <a:off x="566928" y="3182112"/>
            <a:ext cx="1783080" cy="4023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1" name="Pill label"/>
          <p:cNvSpPr/>
          <p:nvPr/>
        </p:nvSpPr>
        <p:spPr>
          <a:xfrm>
            <a:off x="658368" y="3246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意向轉試點</a:t>
            </a:r>
            <a:endParaRPr lang="en-US" sz="10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Pill: 單城訂單密度"/>
          <p:cNvSpPr/>
          <p:nvPr/>
        </p:nvSpPr>
        <p:spPr>
          <a:xfrm>
            <a:off x="2532888" y="3182112"/>
            <a:ext cx="1783080" cy="4023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3" name="Pill label"/>
          <p:cNvSpPr/>
          <p:nvPr/>
        </p:nvSpPr>
        <p:spPr>
          <a:xfrm>
            <a:off x="2624328" y="3246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單城訂單密度</a:t>
            </a:r>
            <a:endParaRPr lang="en-US" sz="10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Pill: 第二業態"/>
          <p:cNvSpPr/>
          <p:nvPr/>
        </p:nvSpPr>
        <p:spPr>
          <a:xfrm>
            <a:off x="566928" y="3767328"/>
            <a:ext cx="1783080" cy="4023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5" name="Pill label"/>
          <p:cNvSpPr/>
          <p:nvPr/>
        </p:nvSpPr>
        <p:spPr>
          <a:xfrm>
            <a:off x="658368" y="38313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第二業態</a:t>
            </a:r>
            <a:endParaRPr lang="en-US" sz="10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Pill: 第二城市"/>
          <p:cNvSpPr/>
          <p:nvPr/>
        </p:nvSpPr>
        <p:spPr>
          <a:xfrm>
            <a:off x="2532888" y="3767328"/>
            <a:ext cx="1783080" cy="4023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7" name="Pill label"/>
          <p:cNvSpPr/>
          <p:nvPr/>
        </p:nvSpPr>
        <p:spPr>
          <a:xfrm>
            <a:off x="2624328" y="38313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第二城市</a:t>
            </a:r>
            <a:endParaRPr lang="en-US" sz="10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Pill: 未過 KPI 不擴張，不以預算時間自動釋放"/>
          <p:cNvSpPr/>
          <p:nvPr/>
        </p:nvSpPr>
        <p:spPr>
          <a:xfrm>
            <a:off x="822960" y="4709160"/>
            <a:ext cx="3401568" cy="310896"/>
          </a:xfrm>
          <a:prstGeom prst="roundRect">
            <a:avLst/>
          </a:prstGeom>
          <a:solidFill>
            <a:srgbClr val="FDE9CE"/>
          </a:solidFill>
          <a:ln w="8890">
            <a:solidFill>
              <a:srgbClr val="F39A24"/>
            </a:solidFill>
            <a:prstDash val="solid"/>
          </a:ln>
        </p:spPr>
        <p:txBody>
          <a:bodyPr/>
          <a:p/>
        </p:txBody>
      </p:sp>
      <p:sp>
        <p:nvSpPr>
          <p:cNvPr id="19" name="Pill label"/>
          <p:cNvSpPr/>
          <p:nvPr/>
        </p:nvSpPr>
        <p:spPr>
          <a:xfrm>
            <a:off x="914400" y="477316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A85D55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未過 KPI 不擴張，不以預算時間自動釋放</a:t>
            </a:r>
            <a:endParaRPr lang="en-US" sz="107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Rounded card"/>
          <p:cNvSpPr/>
          <p:nvPr/>
        </p:nvSpPr>
        <p:spPr>
          <a:xfrm>
            <a:off x="502920" y="5532120"/>
            <a:ext cx="11155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21" name="Card body"/>
          <p:cNvSpPr/>
          <p:nvPr/>
        </p:nvSpPr>
        <p:spPr>
          <a:xfrm>
            <a:off x="704088" y="5641848"/>
            <a:ext cx="10753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先在單城建立店鋪、服務者、場所與外國客的供需密度，再把已驗證的排班、預約、透明點單與 CPS 流程複製到第二城市與第二業態。</a:t>
            </a:r>
            <a:endParaRPr lang="en-US" sz="9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2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資料來源：S5、S7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3" name="NeeDo wordmark">
            <a:extLst>
              <a:ext uri="{FF2B5EF4-FFF2-40B4-BE49-F238E27FC236}">
                <a16:creationId xmlns:a16="http://schemas.microsoft.com/office/drawing/2014/main" id="{5F5E9AD0-A861-8AC8-6564-069CF8A61532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24" name="Section label">
            <a:extLst>
              <a:ext uri="{FF2B5EF4-FFF2-40B4-BE49-F238E27FC236}">
                <a16:creationId xmlns:a16="http://schemas.microsoft.com/office/drawing/2014/main" id="{F61E9EBA-0E39-92CF-EAA2-AFB8F07A62FB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09</a:t>
            </a:r>
          </a:p>
        </p:txBody>
      </p:sp>
      <p:sp>
        <p:nvSpPr>
          <p:cNvPr id="5" name="Slide title"/>
          <p:cNvSpPr/>
          <p:nvPr/>
        </p:nvSpPr>
        <p:spPr>
          <a:xfrm>
            <a:off x="502920" y="868680"/>
            <a:ext cx="10954513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商業模式：SaaS + 完成訂單費 + Request 調度費</a:t>
            </a:r>
          </a:p>
        </p:txBody>
      </p:sp>
      <p:sp>
        <p:nvSpPr>
          <p:cNvPr id="6" name="Shape 4"/>
          <p:cNvSpPr/>
          <p:nvPr/>
        </p:nvSpPr>
        <p:spPr>
          <a:xfrm>
            <a:off x="4892039" y="2086661"/>
            <a:ext cx="2194560" cy="2194560"/>
          </a:xfrm>
          <a:prstGeom prst="ellipse">
            <a:avLst/>
          </a:prstGeom>
          <a:solidFill>
            <a:srgbClr val="0B5943"/>
          </a:solidFill>
          <a:ln w="19050">
            <a:solidFill>
              <a:srgbClr val="88CFA8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57799" y="2809037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完成履約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交易核心</a:t>
            </a:r>
            <a:endParaRPr lang="en-US" sz="1800" dirty="0"/>
          </a:p>
        </p:txBody>
      </p:sp>
      <p:sp>
        <p:nvSpPr>
          <p:cNvPr id="8" name="Orbit connector"/>
          <p:cNvSpPr/>
          <p:nvPr/>
        </p:nvSpPr>
        <p:spPr>
          <a:xfrm>
            <a:off x="6080760" y="3154680"/>
            <a:ext cx="0" cy="0"/>
          </a:xfrm>
          <a:prstGeom prst="line">
            <a:avLst/>
          </a:prstGeom>
          <a:noFill/>
          <a:ln w="15240">
            <a:solidFill>
              <a:srgbClr val="88CF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Orbit node: SaaS 月費"/>
          <p:cNvSpPr/>
          <p:nvPr/>
        </p:nvSpPr>
        <p:spPr>
          <a:xfrm>
            <a:off x="2240280" y="1853042"/>
            <a:ext cx="1097280" cy="10972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8B62"/>
            </a:solidFill>
            <a:prstDash val="solid"/>
          </a:ln>
          <a:effectLst>
            <a:outerShdw blurRad="15240" dist="50800" dir="2700000" algn="bl" rotWithShape="0">
              <a:srgbClr val="76837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Orbit label"/>
          <p:cNvSpPr/>
          <p:nvPr/>
        </p:nvSpPr>
        <p:spPr>
          <a:xfrm>
            <a:off x="2331720" y="2248063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59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SaaS 月費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2057400" y="306005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66736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¥9,800／店／月</a:t>
            </a:r>
            <a:endParaRPr lang="en-US" sz="920" dirty="0"/>
          </a:p>
        </p:txBody>
      </p:sp>
      <p:sp>
        <p:nvSpPr>
          <p:cNvPr id="12" name="Orbit connector"/>
          <p:cNvSpPr/>
          <p:nvPr/>
        </p:nvSpPr>
        <p:spPr>
          <a:xfrm flipH="1">
            <a:off x="4251960" y="3776472"/>
            <a:ext cx="822961" cy="459029"/>
          </a:xfrm>
          <a:prstGeom prst="line">
            <a:avLst/>
          </a:prstGeom>
          <a:noFill/>
          <a:ln w="15240">
            <a:solidFill>
              <a:srgbClr val="88CF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Orbit node: 預約平台費"/>
          <p:cNvSpPr/>
          <p:nvPr/>
        </p:nvSpPr>
        <p:spPr>
          <a:xfrm>
            <a:off x="3154680" y="3818574"/>
            <a:ext cx="1097280" cy="10972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8B62"/>
            </a:solidFill>
            <a:prstDash val="solid"/>
          </a:ln>
          <a:effectLst>
            <a:outerShdw blurRad="15240" dist="50800" dir="2700000" algn="bl" rotWithShape="0">
              <a:srgbClr val="76837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Orbit label"/>
          <p:cNvSpPr/>
          <p:nvPr/>
        </p:nvSpPr>
        <p:spPr>
          <a:xfrm>
            <a:off x="3246120" y="421359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59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預約平台費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2971800" y="502558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66736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¥500／完成單</a:t>
            </a:r>
            <a:endParaRPr lang="en-US" sz="920" dirty="0"/>
          </a:p>
        </p:txBody>
      </p:sp>
      <p:sp>
        <p:nvSpPr>
          <p:cNvPr id="16" name="Orbit connector"/>
          <p:cNvSpPr/>
          <p:nvPr/>
        </p:nvSpPr>
        <p:spPr>
          <a:xfrm flipV="1">
            <a:off x="7003915" y="2514015"/>
            <a:ext cx="1545724" cy="285293"/>
          </a:xfrm>
          <a:prstGeom prst="line">
            <a:avLst/>
          </a:prstGeom>
          <a:noFill/>
          <a:ln w="15240">
            <a:solidFill>
              <a:srgbClr val="88CF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Orbit node: 介紹成功報酬"/>
          <p:cNvSpPr/>
          <p:nvPr/>
        </p:nvSpPr>
        <p:spPr>
          <a:xfrm>
            <a:off x="8549639" y="1847088"/>
            <a:ext cx="1097280" cy="10972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8B62"/>
            </a:solidFill>
            <a:prstDash val="solid"/>
          </a:ln>
          <a:effectLst>
            <a:outerShdw blurRad="15240" dist="50800" dir="2700000" algn="bl" rotWithShape="0">
              <a:srgbClr val="76837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Orbit label"/>
          <p:cNvSpPr/>
          <p:nvPr/>
        </p:nvSpPr>
        <p:spPr>
          <a:xfrm>
            <a:off x="8641079" y="2242109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t>未來增值收入</a:t>
            </a:r>
          </a:p>
          <a:p>
            <a:r>
              <a:t>CPS／Boost 等待交易驗證</a:t>
            </a:r>
          </a:p>
        </p:txBody>
      </p:sp>
      <p:sp>
        <p:nvSpPr>
          <p:cNvPr id="19" name="Text 17"/>
          <p:cNvSpPr/>
          <p:nvPr/>
        </p:nvSpPr>
        <p:spPr>
          <a:xfrm>
            <a:off x="8366759" y="30540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未來增值收入</a:t>
            </a:r>
          </a:p>
          <a:p>
            <a:r>
              <a:t>CPS／Boost 等待交易驗證</a:t>
            </a:r>
          </a:p>
        </p:txBody>
      </p:sp>
      <p:sp>
        <p:nvSpPr>
          <p:cNvPr id="20" name="Orbit connector"/>
          <p:cNvSpPr/>
          <p:nvPr/>
        </p:nvSpPr>
        <p:spPr>
          <a:xfrm>
            <a:off x="7003915" y="3583865"/>
            <a:ext cx="1088526" cy="493114"/>
          </a:xfrm>
          <a:prstGeom prst="line">
            <a:avLst/>
          </a:prstGeom>
          <a:noFill/>
          <a:ln w="15240">
            <a:solidFill>
              <a:srgbClr val="88CF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Orbit node: CPS／增值服務"/>
          <p:cNvSpPr/>
          <p:nvPr/>
        </p:nvSpPr>
        <p:spPr>
          <a:xfrm>
            <a:off x="8001000" y="3795343"/>
            <a:ext cx="1097280" cy="10972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39A24"/>
            </a:solidFill>
            <a:prstDash val="solid"/>
          </a:ln>
          <a:effectLst>
            <a:outerShdw blurRad="15240" dist="50800" dir="2700000" algn="bl" rotWithShape="0">
              <a:srgbClr val="76837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Orbit label"/>
          <p:cNvSpPr/>
          <p:nvPr/>
        </p:nvSpPr>
        <p:spPr>
          <a:xfrm>
            <a:off x="8092440" y="427997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594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CPS／增值服務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7818120" y="5002351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85D5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待真實歸因驗證</a:t>
            </a:r>
            <a:endParaRPr lang="en-US" sz="920" dirty="0"/>
          </a:p>
        </p:txBody>
      </p:sp>
      <p:sp>
        <p:nvSpPr>
          <p:cNvPr id="24" name="Rounded card"/>
          <p:cNvSpPr/>
          <p:nvPr/>
        </p:nvSpPr>
        <p:spPr>
          <a:xfrm>
            <a:off x="502920" y="5532120"/>
            <a:ext cx="11155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25" name="Card body"/>
          <p:cNvSpPr/>
          <p:nvPr/>
        </p:nvSpPr>
        <p:spPr>
          <a:xfrm>
            <a:off x="704088" y="5641848"/>
            <a:ext cx="10753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t>未來增值收入</a:t>
            </a:r>
          </a:p>
          <a:p>
            <a:r>
              <a:t>CPS／Boost 等待交易驗證</a:t>
            </a:r>
          </a:p>
        </p:txBody>
      </p:sp>
      <p:sp>
        <p:nvSpPr>
          <p:cNvPr id="26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資料來源：S5、S7</a:t>
            </a:r>
            <a:endParaRPr lang="en-US" sz="820" dirty="0"/>
          </a:p>
        </p:txBody>
      </p:sp>
      <p:sp>
        <p:nvSpPr>
          <p:cNvPr id="27" name="NeeDo wordmark">
            <a:extLst>
              <a:ext uri="{FF2B5EF4-FFF2-40B4-BE49-F238E27FC236}">
                <a16:creationId xmlns:a16="http://schemas.microsoft.com/office/drawing/2014/main" id="{F95406FE-DA7C-DEE9-4477-A80215FF32E1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28" name="Section label">
            <a:extLst>
              <a:ext uri="{FF2B5EF4-FFF2-40B4-BE49-F238E27FC236}">
                <a16:creationId xmlns:a16="http://schemas.microsoft.com/office/drawing/2014/main" id="{71003891-E0D0-B713-1059-7E1B22EA8DCC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  <p:sp>
        <p:nvSpPr>
          <p:cNvPr id="29" name="Orbit connector">
            <a:extLst>
              <a:ext uri="{FF2B5EF4-FFF2-40B4-BE49-F238E27FC236}">
                <a16:creationId xmlns:a16="http://schemas.microsoft.com/office/drawing/2014/main" id="{3F562E6B-817F-5BA0-1514-3D48F30EE14C}"/>
              </a:ext>
            </a:extLst>
          </p:cNvPr>
          <p:cNvSpPr/>
          <p:nvPr/>
        </p:nvSpPr>
        <p:spPr>
          <a:xfrm flipH="1" flipV="1">
            <a:off x="3337560" y="2379697"/>
            <a:ext cx="1645920" cy="348405"/>
          </a:xfrm>
          <a:prstGeom prst="line">
            <a:avLst/>
          </a:prstGeom>
          <a:noFill/>
          <a:ln w="15240">
            <a:solidFill>
              <a:srgbClr val="88CFA8">
                <a:alpha val="75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</a:t>
            </a:r>
          </a:p>
        </p:txBody>
      </p:sp>
      <p:sp>
        <p:nvSpPr>
          <p:cNvPr id="5" name="Slide title"/>
          <p:cNvSpPr/>
          <p:nvPr/>
        </p:nvSpPr>
        <p:spPr>
          <a:xfrm>
            <a:off x="502920" y="868680"/>
            <a:ext cx="10954513" cy="676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單位經濟：500 NDP 的渠道成本可控、可優化</a:t>
            </a:r>
          </a:p>
        </p:txBody>
      </p:sp>
      <p:sp>
        <p:nvSpPr>
          <p:cNvPr id="6" name="Rounded card"/>
          <p:cNvSpPr/>
          <p:nvPr/>
        </p:nvSpPr>
        <p:spPr>
          <a:xfrm>
            <a:off x="594360" y="1554480"/>
            <a:ext cx="24871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B5943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Hero number"/>
          <p:cNvSpPr/>
          <p:nvPr/>
        </p:nvSpPr>
        <p:spPr>
          <a:xfrm>
            <a:off x="795528" y="1783080"/>
            <a:ext cx="210312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¥9,800</a:t>
            </a:r>
            <a:endParaRPr lang="en-US" sz="33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8" name="Hero label"/>
          <p:cNvSpPr/>
          <p:nvPr/>
        </p:nvSpPr>
        <p:spPr>
          <a:xfrm>
            <a:off x="795528" y="2320747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每店每月 SaaS</a:t>
            </a:r>
            <a:endParaRPr lang="en-US" sz="12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Hero detail"/>
          <p:cNvSpPr/>
          <p:nvPr/>
        </p:nvSpPr>
        <p:spPr>
          <a:xfrm>
            <a:off x="795528" y="253581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最低 6 個月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Rounded card"/>
          <p:cNvSpPr/>
          <p:nvPr/>
        </p:nvSpPr>
        <p:spPr>
          <a:xfrm>
            <a:off x="3465576" y="1554480"/>
            <a:ext cx="24871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8B62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Hero number"/>
          <p:cNvSpPr/>
          <p:nvPr/>
        </p:nvSpPr>
        <p:spPr>
          <a:xfrm>
            <a:off x="3666744" y="1783080"/>
            <a:ext cx="210312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2E8B62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¥500</a:t>
            </a:r>
            <a:endParaRPr lang="en-US" sz="33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2" name="Hero label"/>
          <p:cNvSpPr/>
          <p:nvPr/>
        </p:nvSpPr>
        <p:spPr>
          <a:xfrm>
            <a:off x="3666744" y="2320747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每筆完成預約費</a:t>
            </a:r>
            <a:endParaRPr lang="en-US" sz="12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Hero detail"/>
          <p:cNvSpPr/>
          <p:nvPr/>
        </p:nvSpPr>
        <p:spPr>
          <a:xfrm>
            <a:off x="3666744" y="253581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前 3 個月只免此費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Rounded card"/>
          <p:cNvSpPr/>
          <p:nvPr/>
        </p:nvSpPr>
        <p:spPr>
          <a:xfrm>
            <a:off x="6336792" y="1554480"/>
            <a:ext cx="24871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8CFA8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Hero number"/>
          <p:cNvSpPr/>
          <p:nvPr/>
        </p:nvSpPr>
        <p:spPr>
          <a:xfrm>
            <a:off x="6537960" y="1783080"/>
            <a:ext cx="210312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¥500</a:t>
            </a:r>
          </a:p>
        </p:txBody>
      </p:sp>
      <p:sp>
        <p:nvSpPr>
          <p:cNvPr id="16" name="Hero label"/>
          <p:cNvSpPr/>
          <p:nvPr/>
        </p:nvSpPr>
        <p:spPr>
          <a:xfrm>
            <a:off x="6537960" y="2320747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Booking 技術服務費</a:t>
            </a:r>
          </a:p>
        </p:txBody>
      </p:sp>
      <p:sp>
        <p:nvSpPr>
          <p:cNvPr id="17" name="Hero detail"/>
          <p:cNvSpPr/>
          <p:nvPr/>
        </p:nvSpPr>
        <p:spPr>
          <a:xfrm>
            <a:off x="6537960" y="253581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支付／準備／獎勵／雲端後</a:t>
            </a:r>
            <a:endParaRPr lang="en-US" sz="88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Rounded card"/>
          <p:cNvSpPr/>
          <p:nvPr/>
        </p:nvSpPr>
        <p:spPr>
          <a:xfrm>
            <a:off x="9208008" y="1554480"/>
            <a:ext cx="2487168" cy="1417320"/>
          </a:xfrm>
          <a:prstGeom prst="roundRect">
            <a:avLst/>
          </a:prstGeom>
          <a:solidFill>
            <a:srgbClr val="FDE9CE"/>
          </a:solidFill>
          <a:ln w="10160">
            <a:solidFill>
              <a:srgbClr val="F39A24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Hero number"/>
          <p:cNvSpPr/>
          <p:nvPr/>
        </p:nvSpPr>
        <p:spPr>
          <a:xfrm>
            <a:off x="9409176" y="1783080"/>
            <a:ext cx="210312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Web</a:t>
            </a:r>
          </a:p>
        </p:txBody>
      </p:sp>
      <p:sp>
        <p:nvSpPr>
          <p:cNvPr id="20" name="Hero label"/>
          <p:cNvSpPr/>
          <p:nvPr/>
        </p:nvSpPr>
        <p:spPr>
          <a:xfrm>
            <a:off x="9409176" y="2320747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簡化貢獻率</a:t>
            </a:r>
            <a:endParaRPr lang="en-US" sz="12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1" name="Hero detail"/>
          <p:cNvSpPr/>
          <p:nvPr/>
        </p:nvSpPr>
        <p:spPr>
          <a:xfrm>
            <a:off x="9409176" y="253581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Stripe 直充優先</a:t>
            </a:r>
          </a:p>
        </p:txBody>
      </p:sp>
      <p:sp>
        <p:nvSpPr>
          <p:cNvPr id="22" name="Card: 付費獲客 CAC 回收"/>
          <p:cNvSpPr/>
          <p:nvPr/>
        </p:nvSpPr>
        <p:spPr>
          <a:xfrm>
            <a:off x="621792" y="3401568"/>
            <a:ext cx="5349240" cy="1508760"/>
          </a:xfrm>
          <a:prstGeom prst="roundRect">
            <a:avLst/>
          </a:prstGeom>
          <a:solidFill>
            <a:srgbClr val="E9F4ED"/>
          </a:solidFill>
          <a:ln w="10160">
            <a:solidFill>
              <a:srgbClr val="88CFA8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Card title"/>
          <p:cNvSpPr/>
          <p:nvPr/>
        </p:nvSpPr>
        <p:spPr>
          <a:xfrm>
            <a:off x="822960" y="356616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A16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付費獲客 CAC 回收</a:t>
            </a:r>
            <a:endParaRPr lang="en-US" sz="16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24" name="Card body"/>
          <p:cNvSpPr/>
          <p:nvPr/>
        </p:nvSpPr>
        <p:spPr>
          <a:xfrm>
            <a:off x="822960" y="4005072"/>
            <a:ext cx="4946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CAC ¥15,000 ÷ SaaS ¥9,800 ＝ 約 1.53 個月</a:t>
            </a:r>
            <a:endParaRPr lang="en-US" sz="15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5" name="Card: 介紹成功報酬回收"/>
          <p:cNvSpPr/>
          <p:nvPr/>
        </p:nvSpPr>
        <p:spPr>
          <a:xfrm>
            <a:off x="6236208" y="3401568"/>
            <a:ext cx="53492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8B62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Card title"/>
          <p:cNvSpPr/>
          <p:nvPr/>
        </p:nvSpPr>
        <p:spPr>
          <a:xfrm>
            <a:off x="6437376" y="356616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A16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介紹成功報酬回收</a:t>
            </a:r>
            <a:endParaRPr lang="en-US" sz="16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27" name="Card body"/>
          <p:cNvSpPr/>
          <p:nvPr/>
        </p:nvSpPr>
        <p:spPr>
          <a:xfrm>
            <a:off x="6437376" y="4005072"/>
            <a:ext cx="4946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成功報酬 ¥30,000 ÷ SaaS ¥9,800 ＝ 約 3.06 個月</a:t>
            </a:r>
            <a:endParaRPr lang="en-US" sz="15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8" name="Rounded card"/>
          <p:cNvSpPr/>
          <p:nvPr/>
        </p:nvSpPr>
        <p:spPr>
          <a:xfrm>
            <a:off x="502920" y="5230368"/>
            <a:ext cx="11155680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29" name="Card body"/>
          <p:cNvSpPr/>
          <p:nvPr/>
        </p:nvSpPr>
        <p:spPr>
          <a:xfrm>
            <a:off x="704088" y="5340096"/>
            <a:ext cx="10753344" cy="548640"/>
          </a:xfrm>
          <a:prstGeom prst="rect">
            <a:avLst/>
          </a:prstGeom>
          <a:noFill/>
          <a:ln/>
        </p:spPr>
        <p:txBody>
          <a:bodyPr wrap="square" lIns="18288" tIns="0" rIns="18288" bIns="0" rtlCol="0" anchor="ctr">
            <a:normAutofit fontScale="92500"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A16"/>
                </a:solidFill>
                <a:latin typeface="MiSans Normal"/>
              </a:rPr>
              <a:t>Web 充值：500 JPY → 500 NDP，Stripe 手續費由平台承擔。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A16"/>
                </a:solidFill>
                <a:latin typeface="MiSans Normal"/>
              </a:rPr>
              <a:t>App 充值：依 Apple / Google 當期規則調整售價與點數方案，維持目標淨經濟性。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A16"/>
                </a:solidFill>
                <a:latin typeface="MiSans Normal"/>
              </a:rPr>
              <a:t>Booking 完單：B 端 500 NDP 技術服務費；C 端完單返 100 NDP。</a:t>
            </a:r>
          </a:p>
        </p:txBody>
      </p:sp>
      <p:sp>
        <p:nvSpPr>
          <p:cNvPr id="30" name="Risk disclosure"/>
          <p:cNvSpPr/>
          <p:nvPr/>
        </p:nvSpPr>
        <p:spPr>
          <a:xfrm>
            <a:off x="502920" y="6035040"/>
            <a:ext cx="11155680" cy="356616"/>
          </a:xfrm>
          <a:prstGeom prst="roundRect">
            <a:avLst/>
          </a:prstGeom>
          <a:solidFill>
            <a:srgbClr val="FDE9CE"/>
          </a:solidFill>
          <a:ln w="7620">
            <a:solidFill>
              <a:srgbClr val="F39A24"/>
            </a:solidFill>
            <a:prstDash val="solid"/>
          </a:ln>
        </p:spPr>
        <p:txBody>
          <a:bodyPr/>
          <a:p/>
        </p:txBody>
      </p:sp>
      <p:sp>
        <p:nvSpPr>
          <p:cNvPr id="31" name="Disclosure text"/>
          <p:cNvSpPr/>
          <p:nvPr/>
        </p:nvSpPr>
        <p:spPr>
          <a:xfrm>
            <a:off x="630936" y="6089904"/>
            <a:ext cx="10899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A85D55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透明點單與 CPS 目前為可操作原型；尚無真實歸因 GMV 或 CPS 收入，不納入核心財務模型。 成人性服務相關業態現行條款禁止；不納入核心財務模型，未來如評估須另行完成產品、法務與監管審查。</a:t>
            </a:r>
            <a:endParaRPr lang="en-US" sz="87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2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資料來源：S5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3" name="NeeDo wordmark">
            <a:extLst>
              <a:ext uri="{FF2B5EF4-FFF2-40B4-BE49-F238E27FC236}">
                <a16:creationId xmlns:a16="http://schemas.microsoft.com/office/drawing/2014/main" id="{C9D4BE22-DF11-5D6D-1E1F-1B2DA24B551B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34" name="Section label">
            <a:extLst>
              <a:ext uri="{FF2B5EF4-FFF2-40B4-BE49-F238E27FC236}">
                <a16:creationId xmlns:a16="http://schemas.microsoft.com/office/drawing/2014/main" id="{CCEB2A50-3BA3-82E7-3BDC-C19CC7C9CAF5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14</a:t>
            </a:r>
          </a:p>
        </p:txBody>
      </p:sp>
      <p:sp>
        <p:nvSpPr>
          <p:cNvPr id="5" name="Slide title"/>
          <p:cNvSpPr/>
          <p:nvPr/>
        </p:nvSpPr>
        <p:spPr>
          <a:xfrm>
            <a:off x="502920" y="868680"/>
            <a:ext cx="10954513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Base Case：三年形成 6,000 店的高密度履約網路</a:t>
            </a:r>
          </a:p>
        </p:txBody>
      </p:sp>
      <p:graphicFrame>
        <p:nvGraphicFramePr>
          <p:cNvPr id="6" name="Native column chart" descr="一般方案三年營收與營業利潤"/>
          <p:cNvGraphicFramePr/>
          <p:nvPr>
            <p:extLst>
              <p:ext uri="{D42A27DB-BD31-4B8C-83A1-F6EECF244321}">
                <p14:modId xmlns:p14="http://schemas.microsoft.com/office/powerpoint/2010/main" val="3251316806"/>
              </p:ext>
            </p:extLst>
          </p:nvPr>
        </p:nvGraphicFramePr>
        <p:xfrm>
          <a:off x="594360" y="1417320"/>
          <a:ext cx="7516368" cy="3822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ard: 一般方案"/>
          <p:cNvSpPr/>
          <p:nvPr/>
        </p:nvSpPr>
        <p:spPr>
          <a:xfrm>
            <a:off x="8394192" y="1444752"/>
            <a:ext cx="3127248" cy="33704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8B62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Card title"/>
          <p:cNvSpPr/>
          <p:nvPr/>
        </p:nvSpPr>
        <p:spPr>
          <a:xfrm>
            <a:off x="8595360" y="160934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E8B62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一般方案</a:t>
            </a:r>
            <a:endParaRPr lang="en-US" sz="17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8577072" y="210312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指標</a:t>
            </a:r>
            <a:endParaRPr lang="en-US" sz="9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445752" y="210312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2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Y1</a:t>
            </a:r>
            <a:endParaRPr lang="en-US" sz="9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067544" y="210312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2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Y2</a:t>
            </a:r>
            <a:endParaRPr lang="en-US" sz="9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689336" y="210312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2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Y3</a:t>
            </a:r>
            <a:endParaRPr lang="en-US" sz="9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577072" y="245059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期末店鋪</a:t>
            </a:r>
            <a:endParaRPr lang="en-US" sz="84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445752" y="245059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1,200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067544" y="245059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3,000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689336" y="245059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6,000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77072" y="29352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完成訂單</a:t>
            </a:r>
            <a:endParaRPr lang="en-US" sz="84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445752" y="293522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88.8萬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067544" y="293522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297.8萬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689336" y="293522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638.6萬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577072" y="34198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營收 MJPY</a:t>
            </a:r>
            <a:endParaRPr lang="en-US" sz="84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445752" y="3419856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267.7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0067544" y="3419856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1541.5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689336" y="3419856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4162.5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577072" y="390448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營業利潤 MJPY</a:t>
            </a:r>
            <a:endParaRPr lang="en-US" sz="84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445752" y="390448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85D55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-83.4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067544" y="390448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646.2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0689336" y="390448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2351.7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577072" y="438912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利潤率</a:t>
            </a:r>
            <a:endParaRPr lang="en-US" sz="84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9445752" y="4389120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-31.1%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0067544" y="4389120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41.9%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0689336" y="4389120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56.5%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3" name="Pill: Y3 利潤 23.52 億日圓"/>
          <p:cNvSpPr/>
          <p:nvPr/>
        </p:nvSpPr>
        <p:spPr>
          <a:xfrm>
            <a:off x="8705088" y="5010912"/>
            <a:ext cx="2487168" cy="310896"/>
          </a:xfrm>
          <a:prstGeom prst="roundRect">
            <a:avLst>
              <a:gd name="adj" fmla="val 50000"/>
            </a:avLst>
          </a:prstGeom>
          <a:solidFill>
            <a:srgbClr val="E9F4ED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34" name="Pill label"/>
          <p:cNvSpPr/>
          <p:nvPr/>
        </p:nvSpPr>
        <p:spPr>
          <a:xfrm>
            <a:off x="8796528" y="507492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Y3 利潤 23.52 億日圓</a:t>
            </a:r>
            <a:endParaRPr lang="en-US" sz="11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5" name="Rounded card"/>
          <p:cNvSpPr/>
          <p:nvPr/>
        </p:nvSpPr>
        <p:spPr>
          <a:xfrm>
            <a:off x="502920" y="5532120"/>
            <a:ext cx="11155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36" name="Card body"/>
          <p:cNvSpPr/>
          <p:nvPr/>
        </p:nvSpPr>
        <p:spPr>
          <a:xfrm>
            <a:off x="704088" y="5641848"/>
            <a:ext cx="10753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一般方案店鋪 1200 → 3000 → 6000；Y3 訂單 6,386,370、營收 4162.506M 日圓、淨利 2351.721M 日圓；一般方案。成人性服務相關業態現行條款禁止；未來若評估，屬獨立受監管市場，需要獨立產品、法務與監管評估，不進入核心模型。</a:t>
            </a:r>
            <a:endParaRPr lang="en-US" sz="9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7" name="Risk disclosure"/>
          <p:cNvSpPr/>
          <p:nvPr/>
        </p:nvSpPr>
        <p:spPr>
          <a:xfrm>
            <a:off x="502920" y="6035040"/>
            <a:ext cx="11155680" cy="356616"/>
          </a:xfrm>
          <a:prstGeom prst="roundRect">
            <a:avLst/>
          </a:prstGeom>
          <a:solidFill>
            <a:srgbClr val="FDE9CE"/>
          </a:solidFill>
          <a:ln w="7620">
            <a:solidFill>
              <a:srgbClr val="F39A24"/>
            </a:solidFill>
            <a:prstDash val="solid"/>
          </a:ln>
        </p:spPr>
        <p:txBody>
          <a:bodyPr/>
          <a:p/>
        </p:txBody>
      </p:sp>
      <p:sp>
        <p:nvSpPr>
          <p:cNvPr id="38" name="Disclosure text"/>
          <p:cNvSpPr/>
          <p:nvPr/>
        </p:nvSpPr>
        <p:spPr>
          <a:xfrm>
            <a:off x="630936" y="6089904"/>
            <a:ext cx="10899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A85D55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成人性服務相關業態現行條款禁止；不納入核心財務模型，未來如評估須另行完成產品、法務與監管審查。</a:t>
            </a:r>
            <a:endParaRPr lang="en-US" sz="87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資料來源：S5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0" name="NeeDo wordmark">
            <a:extLst>
              <a:ext uri="{FF2B5EF4-FFF2-40B4-BE49-F238E27FC236}">
                <a16:creationId xmlns:a16="http://schemas.microsoft.com/office/drawing/2014/main" id="{38D2D153-2224-1095-439B-6F2967655EC3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41" name="Section label">
            <a:extLst>
              <a:ext uri="{FF2B5EF4-FFF2-40B4-BE49-F238E27FC236}">
                <a16:creationId xmlns:a16="http://schemas.microsoft.com/office/drawing/2014/main" id="{B9EE64EC-E7E1-6CBE-CC72-F4F9EDA5AD51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16</a:t>
            </a:r>
          </a:p>
        </p:txBody>
      </p:sp>
      <p:sp>
        <p:nvSpPr>
          <p:cNvPr id="5" name="Slide title"/>
          <p:cNvSpPr/>
          <p:nvPr/>
        </p:nvSpPr>
        <p:spPr>
          <a:xfrm>
            <a:off x="502920" y="868680"/>
            <a:ext cx="10954513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2 億日圓，用於產品化、東京密度與商業驗證</a:t>
            </a:r>
          </a:p>
        </p:txBody>
      </p:sp>
      <p:graphicFrame>
        <p:nvGraphicFramePr>
          <p:cNvPr id="6" name="Native funding doughnut" descr="2億日圓資金配置"/>
          <p:cNvGraphicFramePr/>
          <p:nvPr>
            <p:extLst>
              <p:ext uri="{D42A27DB-BD31-4B8C-83A1-F6EECF244321}">
                <p14:modId xmlns:p14="http://schemas.microsoft.com/office/powerpoint/2010/main" val="584274072"/>
              </p:ext>
            </p:extLst>
          </p:nvPr>
        </p:nvGraphicFramePr>
        <p:xfrm>
          <a:off x="594360" y="1417320"/>
          <a:ext cx="42062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1737360" y="33009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¥200M</a:t>
            </a:r>
            <a:endParaRPr lang="en-US" sz="31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8" name="Card: 80M｜40%｜產品與工程"/>
          <p:cNvSpPr/>
          <p:nvPr/>
        </p:nvSpPr>
        <p:spPr>
          <a:xfrm>
            <a:off x="5074920" y="1444752"/>
            <a:ext cx="6355080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9" name="Card title"/>
          <p:cNvSpPr/>
          <p:nvPr/>
        </p:nvSpPr>
        <p:spPr>
          <a:xfrm>
            <a:off x="5276088" y="1609344"/>
            <a:ext cx="5952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140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80M｜40%｜</a:t>
            </a:r>
            <a:r>
              <a:rPr lang="en-US" altLang="zh-CN" sz="1400" b="1" dirty="0" err="1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市場／店鋪導入</a:t>
            </a:r>
            <a:endParaRPr lang="en-US" altLang="zh-CN" sz="14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Card: 60M｜30%｜市場／店鋪導入"/>
          <p:cNvSpPr/>
          <p:nvPr/>
        </p:nvSpPr>
        <p:spPr>
          <a:xfrm>
            <a:off x="5074920" y="2432304"/>
            <a:ext cx="6355080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2" name="Card title"/>
          <p:cNvSpPr/>
          <p:nvPr/>
        </p:nvSpPr>
        <p:spPr>
          <a:xfrm>
            <a:off x="5276088" y="2596896"/>
            <a:ext cx="5952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zh-CN" sz="140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60M｜30%｜</a:t>
            </a:r>
            <a:r>
              <a:rPr lang="en-US" altLang="zh-CN" sz="1400" b="1" dirty="0" err="1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產品與工程</a:t>
            </a:r>
            <a:endParaRPr lang="en-US" altLang="zh-CN" sz="14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Card: 30M｜15%｜客服／安全／合規"/>
          <p:cNvSpPr/>
          <p:nvPr/>
        </p:nvSpPr>
        <p:spPr>
          <a:xfrm>
            <a:off x="5074920" y="3419856"/>
            <a:ext cx="6355080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5" name="Card title"/>
          <p:cNvSpPr/>
          <p:nvPr/>
        </p:nvSpPr>
        <p:spPr>
          <a:xfrm>
            <a:off x="5276088" y="3584448"/>
            <a:ext cx="5952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30M｜15%｜客服／安全／合規</a:t>
            </a:r>
            <a:endParaRPr lang="en-US" sz="14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Card body"/>
          <p:cNvSpPr/>
          <p:nvPr/>
        </p:nvSpPr>
        <p:spPr>
          <a:xfrm>
            <a:off x="5276088" y="4023360"/>
            <a:ext cx="5952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風控、eKYC、法務、監控與保險</a:t>
            </a:r>
            <a:endParaRPr lang="en-US" sz="10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Card: 30M｜15%｜營運資金"/>
          <p:cNvSpPr/>
          <p:nvPr/>
        </p:nvSpPr>
        <p:spPr>
          <a:xfrm>
            <a:off x="5074920" y="4407408"/>
            <a:ext cx="6355080" cy="768096"/>
          </a:xfrm>
          <a:prstGeom prst="roundRect">
            <a:avLst/>
          </a:prstGeom>
          <a:solidFill>
            <a:srgbClr val="FDE9CE"/>
          </a:solidFill>
          <a:ln w="10160">
            <a:solidFill>
              <a:srgbClr val="F39A24"/>
            </a:solidFill>
            <a:prstDash val="solid"/>
          </a:ln>
        </p:spPr>
        <p:txBody>
          <a:bodyPr/>
          <a:p/>
        </p:txBody>
      </p:sp>
      <p:sp>
        <p:nvSpPr>
          <p:cNvPr id="18" name="Card title"/>
          <p:cNvSpPr/>
          <p:nvPr/>
        </p:nvSpPr>
        <p:spPr>
          <a:xfrm>
            <a:off x="5276088" y="4572000"/>
            <a:ext cx="5952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30M｜15%｜營運資金</a:t>
            </a:r>
            <a:endParaRPr lang="en-US" sz="14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9" name="Card body"/>
          <p:cNvSpPr/>
          <p:nvPr/>
        </p:nvSpPr>
        <p:spPr>
          <a:xfrm>
            <a:off x="5276088" y="5010912"/>
            <a:ext cx="5952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公司運營與里程碑緩衝</a:t>
            </a:r>
            <a:endParaRPr lang="en-US" sz="10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Pill: 18 個月：從可操作原型走到可複製的單城模型"/>
          <p:cNvSpPr/>
          <p:nvPr/>
        </p:nvSpPr>
        <p:spPr>
          <a:xfrm>
            <a:off x="5074919" y="5385232"/>
            <a:ext cx="6355079" cy="274320"/>
          </a:xfrm>
          <a:prstGeom prst="roundRect">
            <a:avLst/>
          </a:prstGeom>
          <a:solidFill>
            <a:srgbClr val="E9F4ED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21" name="Pill label"/>
          <p:cNvSpPr/>
          <p:nvPr/>
        </p:nvSpPr>
        <p:spPr>
          <a:xfrm>
            <a:off x="5806440" y="544924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18 個月：從可操作原型走到可複製的單城模型</a:t>
            </a:r>
            <a:endParaRPr lang="en-US" sz="11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2" name="Rounded card"/>
          <p:cNvSpPr/>
          <p:nvPr/>
        </p:nvSpPr>
        <p:spPr>
          <a:xfrm>
            <a:off x="502920" y="5851576"/>
            <a:ext cx="11155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23" name="Card body"/>
          <p:cNvSpPr/>
          <p:nvPr/>
        </p:nvSpPr>
        <p:spPr>
          <a:xfrm>
            <a:off x="704088" y="5961304"/>
            <a:ext cx="10753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資金用途依序對應正式產品、城市供給、商業化與數據驗證；18 個月目標是把原型與使用意向轉成可驗證的付費、留存、完成訂單與跨城市密度，不把預測當成承諾。Pre-A 融資 2億日圓、出讓 10% 股權；Pre-money 18億日圓、Post-money 20億日圓。</a:t>
            </a:r>
            <a:endParaRPr lang="en-US" sz="9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4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資料來源：S5、S7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5" name="NeeDo wordmark">
            <a:extLst>
              <a:ext uri="{FF2B5EF4-FFF2-40B4-BE49-F238E27FC236}">
                <a16:creationId xmlns:a16="http://schemas.microsoft.com/office/drawing/2014/main" id="{CA709A53-732C-9C52-1947-A128956779C4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26" name="Section label">
            <a:extLst>
              <a:ext uri="{FF2B5EF4-FFF2-40B4-BE49-F238E27FC236}">
                <a16:creationId xmlns:a16="http://schemas.microsoft.com/office/drawing/2014/main" id="{B25C86B4-A302-BF48-BCE0-A08624702172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  <p:sp>
        <p:nvSpPr>
          <p:cNvPr id="10" name="Card body"/>
          <p:cNvSpPr/>
          <p:nvPr/>
        </p:nvSpPr>
        <p:spPr>
          <a:xfrm>
            <a:off x="5276088" y="3030263"/>
            <a:ext cx="5952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20" dirty="0" err="1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後續開發與優化、AI排班、CPS歸因與結算</a:t>
            </a:r>
            <a:endParaRPr lang="en-US" sz="10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Card body"/>
          <p:cNvSpPr/>
          <p:nvPr/>
        </p:nvSpPr>
        <p:spPr>
          <a:xfrm>
            <a:off x="5276088" y="2053266"/>
            <a:ext cx="5952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單城供給密度、BD與合作渠道</a:t>
            </a:r>
            <a:endParaRPr lang="en-US" sz="1020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17</a:t>
            </a:r>
          </a:p>
        </p:txBody>
      </p:sp>
      <p:sp>
        <p:nvSpPr>
          <p:cNvPr id="5" name="Slide title"/>
          <p:cNvSpPr/>
          <p:nvPr/>
        </p:nvSpPr>
        <p:spPr>
          <a:xfrm>
            <a:off x="502920" y="868680"/>
            <a:ext cx="109545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本輪 Pre-A：融資 2 億日圓，出讓 10%</a:t>
            </a:r>
          </a:p>
        </p:txBody>
      </p:sp>
      <p:sp>
        <p:nvSpPr>
          <p:cNvPr id="8" name="Rounded card"/>
          <p:cNvSpPr/>
          <p:nvPr/>
        </p:nvSpPr>
        <p:spPr>
          <a:xfrm>
            <a:off x="603504" y="1572768"/>
            <a:ext cx="3398650" cy="1325880"/>
          </a:xfrm>
          <a:prstGeom prst="roundRect">
            <a:avLst/>
          </a:prstGeom>
          <a:solidFill>
            <a:srgbClr val="E9F4ED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9" name="Hero number"/>
          <p:cNvSpPr/>
          <p:nvPr/>
        </p:nvSpPr>
        <p:spPr>
          <a:xfrm>
            <a:off x="822960" y="1801368"/>
            <a:ext cx="201168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2E8B62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¥200M</a:t>
            </a:r>
            <a:endParaRPr lang="en-US" sz="35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0" name="Hero label"/>
          <p:cNvSpPr/>
          <p:nvPr/>
        </p:nvSpPr>
        <p:spPr>
          <a:xfrm>
            <a:off x="822960" y="24048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本輪融資</a:t>
            </a:r>
            <a:endParaRPr lang="en-US" sz="12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Rounded card"/>
          <p:cNvSpPr/>
          <p:nvPr/>
        </p:nvSpPr>
        <p:spPr>
          <a:xfrm>
            <a:off x="4258186" y="1572768"/>
            <a:ext cx="3686394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39A24"/>
            </a:solidFill>
            <a:prstDash val="solid"/>
          </a:ln>
        </p:spPr>
        <p:txBody>
          <a:bodyPr/>
          <a:p/>
        </p:txBody>
      </p:sp>
      <p:sp>
        <p:nvSpPr>
          <p:cNvPr id="12" name="Hero number"/>
          <p:cNvSpPr/>
          <p:nvPr/>
        </p:nvSpPr>
        <p:spPr>
          <a:xfrm>
            <a:off x="4491261" y="1801368"/>
            <a:ext cx="201168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39A24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10%</a:t>
            </a:r>
            <a:endParaRPr lang="en-US" sz="35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3" name="Hero label"/>
          <p:cNvSpPr/>
          <p:nvPr/>
        </p:nvSpPr>
        <p:spPr>
          <a:xfrm>
            <a:off x="4491261" y="24048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出讓股權</a:t>
            </a:r>
            <a:endParaRPr lang="en-US" sz="12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Rounded card"/>
          <p:cNvSpPr/>
          <p:nvPr/>
        </p:nvSpPr>
        <p:spPr>
          <a:xfrm>
            <a:off x="8200612" y="1572768"/>
            <a:ext cx="35311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8" name="Hero number"/>
          <p:cNvSpPr/>
          <p:nvPr/>
        </p:nvSpPr>
        <p:spPr>
          <a:xfrm>
            <a:off x="8503920" y="1801368"/>
            <a:ext cx="201168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2E8B62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¥2.0B</a:t>
            </a:r>
            <a:endParaRPr lang="en-US" sz="35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9" name="Hero label"/>
          <p:cNvSpPr/>
          <p:nvPr/>
        </p:nvSpPr>
        <p:spPr>
          <a:xfrm>
            <a:off x="8503920" y="24048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投後估值</a:t>
            </a:r>
            <a:endParaRPr lang="en-US" sz="12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Card: 一般方案"/>
          <p:cNvSpPr/>
          <p:nvPr/>
        </p:nvSpPr>
        <p:spPr>
          <a:xfrm>
            <a:off x="621792" y="3364992"/>
            <a:ext cx="5349240" cy="1481328"/>
          </a:xfrm>
          <a:prstGeom prst="roundRect">
            <a:avLst/>
          </a:prstGeom>
          <a:solidFill>
            <a:srgbClr val="E9F4ED"/>
          </a:solidFill>
          <a:ln w="10160">
            <a:solidFill>
              <a:srgbClr val="88CFA8"/>
            </a:solidFill>
            <a:prstDash val="solid"/>
          </a:ln>
        </p:spPr>
        <p:txBody>
          <a:bodyPr/>
          <a:p/>
        </p:txBody>
      </p:sp>
      <p:sp>
        <p:nvSpPr>
          <p:cNvPr id="21" name="Card title"/>
          <p:cNvSpPr/>
          <p:nvPr/>
        </p:nvSpPr>
        <p:spPr>
          <a:xfrm>
            <a:off x="822960" y="3529584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一般方案</a:t>
            </a:r>
            <a:endParaRPr lang="en-US" sz="17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2" name="Card body"/>
          <p:cNvSpPr/>
          <p:nvPr/>
        </p:nvSpPr>
        <p:spPr>
          <a:xfrm>
            <a:off x="822960" y="3968496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Y3：6,000 店｜營收 41.63 億日圓｜營業利潤 23.52 億日圓</a:t>
            </a:r>
            <a:endParaRPr lang="en-US" sz="14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3" name="Card: 激進方案"/>
          <p:cNvSpPr/>
          <p:nvPr/>
        </p:nvSpPr>
        <p:spPr>
          <a:xfrm>
            <a:off x="6236208" y="3364992"/>
            <a:ext cx="5349240" cy="1481328"/>
          </a:xfrm>
          <a:prstGeom prst="roundRect">
            <a:avLst/>
          </a:prstGeom>
          <a:solidFill>
            <a:srgbClr val="FDE9CE"/>
          </a:solidFill>
          <a:ln w="10160">
            <a:solidFill>
              <a:srgbClr val="F39A24"/>
            </a:solidFill>
            <a:prstDash val="solid"/>
          </a:ln>
        </p:spPr>
        <p:txBody>
          <a:bodyPr/>
          <a:p/>
        </p:txBody>
      </p:sp>
      <p:sp>
        <p:nvSpPr>
          <p:cNvPr id="24" name="Card title"/>
          <p:cNvSpPr/>
          <p:nvPr/>
        </p:nvSpPr>
        <p:spPr>
          <a:xfrm>
            <a:off x="6437376" y="3529584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85D55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激進方案</a:t>
            </a:r>
            <a:endParaRPr lang="en-US" sz="17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5" name="Card body"/>
          <p:cNvSpPr/>
          <p:nvPr/>
        </p:nvSpPr>
        <p:spPr>
          <a:xfrm>
            <a:off x="6437376" y="3968496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Y3：10,000 店｜營收 89.07 億日圓｜營業利潤 47.13 億日圓</a:t>
            </a:r>
            <a:endParaRPr lang="en-US" sz="14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6" name="Pill: Pre-A｜最終交易條件以正式協議為準"/>
          <p:cNvSpPr/>
          <p:nvPr/>
        </p:nvSpPr>
        <p:spPr>
          <a:xfrm>
            <a:off x="3611880" y="5074920"/>
            <a:ext cx="498348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88CFA8"/>
            </a:solidFill>
            <a:prstDash val="solid"/>
          </a:ln>
        </p:spPr>
        <p:txBody>
          <a:bodyPr/>
          <a:p/>
        </p:txBody>
      </p:sp>
      <p:sp>
        <p:nvSpPr>
          <p:cNvPr id="27" name="Pill label"/>
          <p:cNvSpPr/>
          <p:nvPr/>
        </p:nvSpPr>
        <p:spPr>
          <a:xfrm>
            <a:off x="3703320" y="513892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Pre-A｜最終交易條件以正式協議為準</a:t>
            </a:r>
            <a:endParaRPr lang="en-US" sz="11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8" name="Rounded card"/>
          <p:cNvSpPr/>
          <p:nvPr/>
        </p:nvSpPr>
        <p:spPr>
          <a:xfrm>
            <a:off x="502920" y="5532120"/>
            <a:ext cx="11155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29" name="Card body"/>
          <p:cNvSpPr/>
          <p:nvPr/>
        </p:nvSpPr>
        <p:spPr>
          <a:xfrm>
            <a:off x="704088" y="5641848"/>
            <a:ext cx="10753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Pre-A 融資 2億日圓、出讓 10% 股權；Pre-money 18億日圓、Post-money 20億日圓。 回報取決於付費轉換、留存、完成訂單、渠道效率與合規執行；本簡報不保證估值、退出或收益。</a:t>
            </a:r>
            <a:endParaRPr lang="en-US" sz="9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Risk disclosure"/>
          <p:cNvSpPr/>
          <p:nvPr/>
        </p:nvSpPr>
        <p:spPr>
          <a:xfrm>
            <a:off x="502920" y="6035040"/>
            <a:ext cx="11155680" cy="356616"/>
          </a:xfrm>
          <a:prstGeom prst="roundRect">
            <a:avLst/>
          </a:prstGeom>
          <a:solidFill>
            <a:srgbClr val="FDE9CE"/>
          </a:solidFill>
          <a:ln w="7620">
            <a:solidFill>
              <a:srgbClr val="F39A24"/>
            </a:solidFill>
            <a:prstDash val="solid"/>
          </a:ln>
        </p:spPr>
        <p:txBody>
          <a:bodyPr/>
          <a:p/>
        </p:txBody>
      </p:sp>
      <p:sp>
        <p:nvSpPr>
          <p:cNvPr id="31" name="Disclosure text"/>
          <p:cNvSpPr/>
          <p:nvPr/>
        </p:nvSpPr>
        <p:spPr>
          <a:xfrm>
            <a:off x="630936" y="6089904"/>
            <a:ext cx="10899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A85D55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財務與投資回報為情境分析，不構成估值、退出、IRR 或收益承諾；最終條件以正式協議為準。</a:t>
            </a:r>
            <a:endParaRPr lang="en-US" sz="87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2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資料來源：S5、S6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3" name="NeeDo wordmark">
            <a:extLst>
              <a:ext uri="{FF2B5EF4-FFF2-40B4-BE49-F238E27FC236}">
                <a16:creationId xmlns:a16="http://schemas.microsoft.com/office/drawing/2014/main" id="{F1FAB329-E872-53C2-4D7F-915940A12FB0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34" name="Section label">
            <a:extLst>
              <a:ext uri="{FF2B5EF4-FFF2-40B4-BE49-F238E27FC236}">
                <a16:creationId xmlns:a16="http://schemas.microsoft.com/office/drawing/2014/main" id="{C7D2842B-6B8B-8F14-13AF-B55CE883890E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15</a:t>
            </a:r>
          </a:p>
        </p:txBody>
      </p:sp>
      <p:sp>
        <p:nvSpPr>
          <p:cNvPr id="5" name="Slide title"/>
          <p:cNvSpPr/>
          <p:nvPr/>
        </p:nvSpPr>
        <p:spPr>
          <a:xfrm>
            <a:off x="502920" y="868680"/>
            <a:ext cx="10954513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三種情境：增長速度不同，核心經濟模型一致</a:t>
            </a:r>
          </a:p>
        </p:txBody>
      </p:sp>
      <p:sp>
        <p:nvSpPr>
          <p:cNvPr id="6" name="Rounded card"/>
          <p:cNvSpPr/>
          <p:nvPr/>
        </p:nvSpPr>
        <p:spPr>
          <a:xfrm>
            <a:off x="621792" y="1572768"/>
            <a:ext cx="109728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A9B92"/>
            </a:solidFill>
            <a:prstDash val="solid"/>
          </a:ln>
        </p:spPr>
        <p:txBody>
          <a:bodyPr/>
          <a:p/>
        </p:txBody>
      </p:sp>
      <p:sp>
        <p:nvSpPr>
          <p:cNvPr id="7" name="Pill: 保守"/>
          <p:cNvSpPr/>
          <p:nvPr/>
        </p:nvSpPr>
        <p:spPr>
          <a:xfrm>
            <a:off x="841248" y="1792224"/>
            <a:ext cx="960120" cy="310896"/>
          </a:xfrm>
          <a:prstGeom prst="roundRect">
            <a:avLst/>
          </a:prstGeom>
          <a:solidFill>
            <a:srgbClr val="8A9B92"/>
          </a:solidFill>
          <a:ln w="8890">
            <a:solidFill>
              <a:srgbClr val="8A9B92"/>
            </a:solidFill>
            <a:prstDash val="solid"/>
          </a:ln>
        </p:spPr>
        <p:txBody>
          <a:bodyPr/>
          <a:p/>
        </p:txBody>
      </p:sp>
      <p:sp>
        <p:nvSpPr>
          <p:cNvPr id="8" name="Pill label"/>
          <p:cNvSpPr/>
          <p:nvPr/>
        </p:nvSpPr>
        <p:spPr>
          <a:xfrm>
            <a:off x="932688" y="18562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保守</a:t>
            </a:r>
            <a:endParaRPr lang="en-US" sz="10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93392" y="18562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9B92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500 → 1,000 → 2,000 店</a:t>
            </a:r>
            <a:endParaRPr lang="en-US" sz="15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81340" y="18562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Y3 營收 643.2 MJPY｜Y3 利潤 247.3 MJPY</a:t>
            </a:r>
            <a:endParaRPr lang="en-US" sz="11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15528" y="17327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低投放、慢激活，作壓力測試</a:t>
            </a:r>
            <a:endParaRPr lang="en-US" sz="10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Rounded card"/>
          <p:cNvSpPr/>
          <p:nvPr/>
        </p:nvSpPr>
        <p:spPr>
          <a:xfrm>
            <a:off x="621792" y="2788920"/>
            <a:ext cx="109728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8B62"/>
            </a:solidFill>
            <a:prstDash val="solid"/>
          </a:ln>
        </p:spPr>
        <p:txBody>
          <a:bodyPr/>
          <a:p/>
        </p:txBody>
      </p:sp>
      <p:sp>
        <p:nvSpPr>
          <p:cNvPr id="13" name="Pill: 一般"/>
          <p:cNvSpPr/>
          <p:nvPr/>
        </p:nvSpPr>
        <p:spPr>
          <a:xfrm>
            <a:off x="841248" y="3008376"/>
            <a:ext cx="960120" cy="310896"/>
          </a:xfrm>
          <a:prstGeom prst="roundRect">
            <a:avLst/>
          </a:prstGeom>
          <a:solidFill>
            <a:srgbClr val="2E8B62"/>
          </a:solidFill>
          <a:ln w="8890">
            <a:solidFill>
              <a:srgbClr val="2E8B62"/>
            </a:solidFill>
            <a:prstDash val="solid"/>
          </a:ln>
        </p:spPr>
        <p:txBody>
          <a:bodyPr/>
          <a:p/>
        </p:txBody>
      </p:sp>
      <p:sp>
        <p:nvSpPr>
          <p:cNvPr id="14" name="Pill label"/>
          <p:cNvSpPr/>
          <p:nvPr/>
        </p:nvSpPr>
        <p:spPr>
          <a:xfrm>
            <a:off x="932688" y="30723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一般</a:t>
            </a:r>
            <a:endParaRPr lang="en-US" sz="10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93392" y="3072384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62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1,200 → 3,000 → 6,000 店</a:t>
            </a:r>
            <a:endParaRPr lang="en-US" sz="15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81340" y="30723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Y3 營收 4162.5 MJPY｜Y3 利潤 2351.7 MJPY</a:t>
            </a:r>
            <a:endParaRPr lang="en-US" sz="11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15528" y="29489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以原 V2.2 高速增長作主方案</a:t>
            </a:r>
            <a:endParaRPr lang="en-US" sz="10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Rounded card"/>
          <p:cNvSpPr/>
          <p:nvPr/>
        </p:nvSpPr>
        <p:spPr>
          <a:xfrm>
            <a:off x="621792" y="4005072"/>
            <a:ext cx="10972800" cy="914400"/>
          </a:xfrm>
          <a:prstGeom prst="roundRect">
            <a:avLst/>
          </a:prstGeom>
          <a:solidFill>
            <a:srgbClr val="FDE9CE"/>
          </a:solidFill>
          <a:ln w="10160">
            <a:solidFill>
              <a:srgbClr val="F39A24"/>
            </a:solidFill>
            <a:prstDash val="solid"/>
          </a:ln>
        </p:spPr>
        <p:txBody>
          <a:bodyPr/>
          <a:p/>
        </p:txBody>
      </p:sp>
      <p:sp>
        <p:nvSpPr>
          <p:cNvPr id="19" name="Pill: 激進"/>
          <p:cNvSpPr/>
          <p:nvPr/>
        </p:nvSpPr>
        <p:spPr>
          <a:xfrm>
            <a:off x="841248" y="4224528"/>
            <a:ext cx="960120" cy="310896"/>
          </a:xfrm>
          <a:prstGeom prst="roundRect">
            <a:avLst/>
          </a:prstGeom>
          <a:solidFill>
            <a:srgbClr val="F39A24"/>
          </a:solidFill>
          <a:ln w="8890">
            <a:solidFill>
              <a:srgbClr val="F39A24"/>
            </a:solidFill>
            <a:prstDash val="solid"/>
          </a:ln>
        </p:spPr>
        <p:txBody>
          <a:bodyPr/>
          <a:p/>
        </p:txBody>
      </p:sp>
      <p:sp>
        <p:nvSpPr>
          <p:cNvPr id="20" name="Pill label"/>
          <p:cNvSpPr/>
          <p:nvPr/>
        </p:nvSpPr>
        <p:spPr>
          <a:xfrm>
            <a:off x="932688" y="42885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激進</a:t>
            </a:r>
            <a:endParaRPr lang="en-US" sz="10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993392" y="4288536"/>
            <a:ext cx="26953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9A24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1,800 → 5,000 → 10,000 店</a:t>
            </a:r>
            <a:endParaRPr lang="en-US" sz="15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81340" y="42885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1A16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Y3 營收 8906.7 MJPY｜Y3 利潤 4713.1 MJPY</a:t>
            </a:r>
            <a:endParaRPr lang="en-US" sz="11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15528" y="41650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供給、渠道、研發與客服同步加速</a:t>
            </a:r>
            <a:endParaRPr lang="en-US" sz="10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4" name="Pill: 三種情境不是三個同時成立的承諾；實際擴張依激活、CAC、復購、取消率、履約與現金狀況逐階段調整。"/>
          <p:cNvSpPr/>
          <p:nvPr/>
        </p:nvSpPr>
        <p:spPr>
          <a:xfrm>
            <a:off x="1874520" y="5175504"/>
            <a:ext cx="8458200" cy="365760"/>
          </a:xfrm>
          <a:prstGeom prst="roundRect">
            <a:avLst/>
          </a:prstGeom>
          <a:solidFill>
            <a:srgbClr val="E9F4ED"/>
          </a:solidFill>
          <a:ln w="8890">
            <a:solidFill>
              <a:srgbClr val="88CFA8"/>
            </a:solidFill>
            <a:prstDash val="solid"/>
          </a:ln>
        </p:spPr>
        <p:txBody>
          <a:bodyPr/>
          <a:p/>
        </p:txBody>
      </p:sp>
      <p:sp>
        <p:nvSpPr>
          <p:cNvPr id="25" name="Pill label"/>
          <p:cNvSpPr/>
          <p:nvPr/>
        </p:nvSpPr>
        <p:spPr>
          <a:xfrm>
            <a:off x="1965960" y="5239512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三種情境不是三個同時成立的承諾；實際擴張依激活、CAC、復購、取消率、履約與現金狀況逐階段調整。</a:t>
            </a:r>
            <a:endParaRPr lang="en-US" sz="10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6" name="Rounded card"/>
          <p:cNvSpPr/>
          <p:nvPr/>
        </p:nvSpPr>
        <p:spPr>
          <a:xfrm>
            <a:off x="502920" y="5797296"/>
            <a:ext cx="11155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27" name="Card body"/>
          <p:cNvSpPr/>
          <p:nvPr/>
        </p:nvSpPr>
        <p:spPr>
          <a:xfrm>
            <a:off x="704088" y="5907024"/>
            <a:ext cx="10753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保守／一般／激進 Y3 店鋪分別為 2,000／6,000／10,000；差異來自供給拓展、渠道速度、訂單密度與執行資源，不是三個同時成立的承諾。本頁僅附錄，不是主情境承諾。</a:t>
            </a:r>
            <a:endParaRPr lang="en-US" sz="9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8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資料來源：S5、S6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9" name="NeeDo wordmark">
            <a:extLst>
              <a:ext uri="{FF2B5EF4-FFF2-40B4-BE49-F238E27FC236}">
                <a16:creationId xmlns:a16="http://schemas.microsoft.com/office/drawing/2014/main" id="{A033441D-008D-CAE8-6153-51376351AD17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30" name="Section label">
            <a:extLst>
              <a:ext uri="{FF2B5EF4-FFF2-40B4-BE49-F238E27FC236}">
                <a16:creationId xmlns:a16="http://schemas.microsoft.com/office/drawing/2014/main" id="{0AE018B4-2D46-EBF7-AEEE-B4B5AE697306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erence-style 3D scene" descr="/Users/eason/Documents/New project/assets/needo-roadshow-reference-style/tokyo-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18</a:t>
            </a:r>
          </a:p>
        </p:txBody>
      </p:sp>
      <p:sp>
        <p:nvSpPr>
          <p:cNvPr id="6" name="Slide title"/>
          <p:cNvSpPr/>
          <p:nvPr/>
        </p:nvSpPr>
        <p:spPr>
          <a:xfrm>
            <a:off x="502920" y="868680"/>
            <a:ext cx="10954513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sz="3000" b="1">
                <a:solidFill>
                  <a:srgbClr val="101A16"/>
                </a:solidFill>
                <a:latin typeface="MiSans Heavy"/>
              </a:rPr>
              <a:t>18 個月：從東京單城驗證，到可複製履約網路</a:t>
            </a:r>
          </a:p>
        </p:txBody>
      </p:sp>
      <p:sp>
        <p:nvSpPr>
          <p:cNvPr id="7" name="Shape 4"/>
          <p:cNvSpPr/>
          <p:nvPr/>
        </p:nvSpPr>
        <p:spPr>
          <a:xfrm>
            <a:off x="2441448" y="4050792"/>
            <a:ext cx="475488" cy="475488"/>
          </a:xfrm>
          <a:prstGeom prst="ellipse">
            <a:avLst/>
          </a:prstGeom>
          <a:solidFill>
            <a:srgbClr val="0B5943"/>
          </a:solidFill>
          <a:ln w="165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514600" y="420624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01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Pill: 正式後端"/>
          <p:cNvSpPr/>
          <p:nvPr/>
        </p:nvSpPr>
        <p:spPr>
          <a:xfrm>
            <a:off x="2148840" y="4608576"/>
            <a:ext cx="1060704" cy="2926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0" name="Pill label"/>
          <p:cNvSpPr/>
          <p:nvPr/>
        </p:nvSpPr>
        <p:spPr>
          <a:xfrm>
            <a:off x="2240280" y="467258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正式後端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498760" y="3525498"/>
            <a:ext cx="475488" cy="475488"/>
          </a:xfrm>
          <a:prstGeom prst="ellipse">
            <a:avLst/>
          </a:prstGeom>
          <a:solidFill>
            <a:srgbClr val="0B5943"/>
          </a:solidFill>
          <a:ln w="165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1912" y="3680946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02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Pill: 試點激活"/>
          <p:cNvSpPr/>
          <p:nvPr/>
        </p:nvSpPr>
        <p:spPr>
          <a:xfrm>
            <a:off x="4206152" y="4083282"/>
            <a:ext cx="1060704" cy="2926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4" name="Pill label"/>
          <p:cNvSpPr/>
          <p:nvPr/>
        </p:nvSpPr>
        <p:spPr>
          <a:xfrm>
            <a:off x="4297592" y="414729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試點激活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48270" y="3141450"/>
            <a:ext cx="475488" cy="475488"/>
          </a:xfrm>
          <a:prstGeom prst="ellipse">
            <a:avLst/>
          </a:prstGeom>
          <a:solidFill>
            <a:srgbClr val="0B5943"/>
          </a:solidFill>
          <a:ln w="165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321422" y="329689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03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Pill: 單城密度"/>
          <p:cNvSpPr/>
          <p:nvPr/>
        </p:nvSpPr>
        <p:spPr>
          <a:xfrm>
            <a:off x="5955662" y="3699234"/>
            <a:ext cx="1060704" cy="2926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18" name="Pill label"/>
          <p:cNvSpPr/>
          <p:nvPr/>
        </p:nvSpPr>
        <p:spPr>
          <a:xfrm>
            <a:off x="6047102" y="376324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單城密度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741767" y="2574522"/>
            <a:ext cx="475488" cy="475488"/>
          </a:xfrm>
          <a:prstGeom prst="ellipse">
            <a:avLst/>
          </a:prstGeom>
          <a:solidFill>
            <a:srgbClr val="0B5943"/>
          </a:solidFill>
          <a:ln w="165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814919" y="272997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04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1" name="Pill: AI／CPS驗證"/>
          <p:cNvSpPr/>
          <p:nvPr/>
        </p:nvSpPr>
        <p:spPr>
          <a:xfrm>
            <a:off x="7449159" y="3132306"/>
            <a:ext cx="1060704" cy="2926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22" name="Pill label"/>
          <p:cNvSpPr/>
          <p:nvPr/>
        </p:nvSpPr>
        <p:spPr>
          <a:xfrm>
            <a:off x="7540599" y="319631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AI／CPS驗證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9172803" y="2035610"/>
            <a:ext cx="475488" cy="475488"/>
          </a:xfrm>
          <a:prstGeom prst="ellipse">
            <a:avLst/>
          </a:prstGeom>
          <a:solidFill>
            <a:srgbClr val="0B5943"/>
          </a:solidFill>
          <a:ln w="165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245955" y="219105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05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5" name="Pill: 第二業態"/>
          <p:cNvSpPr/>
          <p:nvPr/>
        </p:nvSpPr>
        <p:spPr>
          <a:xfrm>
            <a:off x="8880195" y="2593394"/>
            <a:ext cx="1060704" cy="2926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26" name="Pill label"/>
          <p:cNvSpPr/>
          <p:nvPr/>
        </p:nvSpPr>
        <p:spPr>
          <a:xfrm>
            <a:off x="8971635" y="265740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第二業態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0747248" y="1481328"/>
            <a:ext cx="475488" cy="475488"/>
          </a:xfrm>
          <a:prstGeom prst="ellipse">
            <a:avLst/>
          </a:prstGeom>
          <a:solidFill>
            <a:srgbClr val="0B5943"/>
          </a:solidFill>
          <a:ln w="165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820400" y="1636776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06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9" name="Pill: 第二城市"/>
          <p:cNvSpPr/>
          <p:nvPr/>
        </p:nvSpPr>
        <p:spPr>
          <a:xfrm>
            <a:off x="10454640" y="2039112"/>
            <a:ext cx="1060704" cy="2926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30" name="Pill label"/>
          <p:cNvSpPr/>
          <p:nvPr/>
        </p:nvSpPr>
        <p:spPr>
          <a:xfrm>
            <a:off x="10546080" y="210312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5943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第二城市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1" name="Card: 每階段都有驗收閘門"/>
          <p:cNvSpPr/>
          <p:nvPr/>
        </p:nvSpPr>
        <p:spPr>
          <a:xfrm>
            <a:off x="566928" y="1600200"/>
            <a:ext cx="36118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Card title"/>
          <p:cNvSpPr/>
          <p:nvPr/>
        </p:nvSpPr>
        <p:spPr>
          <a:xfrm>
            <a:off x="768096" y="1764792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A16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每階段都有驗收閘門</a:t>
            </a:r>
            <a:endParaRPr lang="en-US" sz="16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33" name="Card body"/>
          <p:cNvSpPr/>
          <p:nvPr/>
        </p:nvSpPr>
        <p:spPr>
          <a:xfrm>
            <a:off x="768096" y="2203704"/>
            <a:ext cx="3209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激活、首單、CAC、復購、取消率、履約品質與安全事件未過線，不進入下一階段。</a:t>
            </a:r>
            <a:endParaRPr lang="en-US" sz="11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4" name="Rounded card"/>
          <p:cNvSpPr/>
          <p:nvPr/>
        </p:nvSpPr>
        <p:spPr>
          <a:xfrm>
            <a:off x="502920" y="5532120"/>
            <a:ext cx="11155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8DA"/>
            </a:solidFill>
            <a:prstDash val="solid"/>
          </a:ln>
        </p:spPr>
        <p:txBody>
          <a:bodyPr/>
          <a:p/>
        </p:txBody>
      </p:sp>
      <p:sp>
        <p:nvSpPr>
          <p:cNvPr id="35" name="Card body"/>
          <p:cNvSpPr/>
          <p:nvPr/>
        </p:nvSpPr>
        <p:spPr>
          <a:xfrm>
            <a:off x="704088" y="5641848"/>
            <a:ext cx="10753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先完成正式後端與核心交易資料，再驗證單城付費與留存，接著複製供給密度、AI 排班、透明點單與 CPS；每一階段以可驗證指標作為下一步門檻。</a:t>
            </a:r>
            <a:endParaRPr lang="en-US" sz="91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6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資料來源：S5、S7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7" name="NeeDo wordmark">
            <a:extLst>
              <a:ext uri="{FF2B5EF4-FFF2-40B4-BE49-F238E27FC236}">
                <a16:creationId xmlns:a16="http://schemas.microsoft.com/office/drawing/2014/main" id="{D3C26218-7C92-EA1F-CDF3-1B31D1666523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38" name="Section label">
            <a:extLst>
              <a:ext uri="{FF2B5EF4-FFF2-40B4-BE49-F238E27FC236}">
                <a16:creationId xmlns:a16="http://schemas.microsoft.com/office/drawing/2014/main" id="{9B8FB067-85C9-B81A-C2D0-0B9A59A30332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8B62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19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Slide title"/>
          <p:cNvSpPr/>
          <p:nvPr/>
        </p:nvSpPr>
        <p:spPr>
          <a:xfrm>
            <a:off x="502920" y="868680"/>
            <a:ext cx="10954513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A16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核心團隊</a:t>
            </a:r>
            <a:endParaRPr lang="en-US" sz="30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6" name="Card: 公司與治理"/>
          <p:cNvSpPr/>
          <p:nvPr/>
        </p:nvSpPr>
        <p:spPr>
          <a:xfrm>
            <a:off x="566928" y="1536192"/>
            <a:ext cx="2542032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B5943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</p:sp>
      <p:sp>
        <p:nvSpPr>
          <p:cNvPr id="7" name="Card title"/>
          <p:cNvSpPr/>
          <p:nvPr/>
        </p:nvSpPr>
        <p:spPr>
          <a:xfrm>
            <a:off x="768096" y="2251467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Founder</a:t>
            </a:r>
            <a:endParaRPr lang="en-US" sz="17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8" name="Card body"/>
          <p:cNvSpPr/>
          <p:nvPr/>
        </p:nvSpPr>
        <p:spPr>
          <a:xfrm>
            <a:off x="768096" y="2854971"/>
            <a:ext cx="2139696" cy="1449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1200"/>
              </a:spcAft>
              <a:buNone/>
            </a:pPr>
            <a:r>
              <a:rPr sz="1350" b="1">
                <a:solidFill>
                  <a:srgbClr val="0B5943"/>
                </a:solidFill>
                <a:latin typeface="MiSans Normal"/>
              </a:rPr>
              <a:t>姓名待補</a:t>
            </a:r>
            <a:endParaRPr lang="en-US" sz="122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101A16"/>
                </a:solidFill>
                <a:latin typeface="MiSans Normal"/>
              </a:rPr>
              <a:t>Vision / Capital / Strategic Partnerships</a:t>
            </a:r>
          </a:p>
        </p:txBody>
      </p:sp>
      <p:sp>
        <p:nvSpPr>
          <p:cNvPr id="9" name="Card: 產品與技術"/>
          <p:cNvSpPr/>
          <p:nvPr/>
        </p:nvSpPr>
        <p:spPr>
          <a:xfrm>
            <a:off x="3447288" y="1536192"/>
            <a:ext cx="2542032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8B62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</p:sp>
      <p:sp>
        <p:nvSpPr>
          <p:cNvPr id="10" name="Card title"/>
          <p:cNvSpPr/>
          <p:nvPr/>
        </p:nvSpPr>
        <p:spPr>
          <a:xfrm>
            <a:off x="3648456" y="2251467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CEO</a:t>
            </a:r>
            <a:endParaRPr lang="en-US" sz="17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1" name="Card body"/>
          <p:cNvSpPr/>
          <p:nvPr/>
        </p:nvSpPr>
        <p:spPr>
          <a:xfrm>
            <a:off x="3648456" y="2854971"/>
            <a:ext cx="2139696" cy="1449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1200"/>
              </a:spcAft>
              <a:buNone/>
            </a:pPr>
            <a:r>
              <a:rPr sz="1350" b="1">
                <a:solidFill>
                  <a:srgbClr val="0B5943"/>
                </a:solidFill>
                <a:latin typeface="MiSans Normal"/>
              </a:rPr>
              <a:t>姓名待補</a:t>
            </a:r>
            <a:endParaRPr lang="en-US" sz="122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101A16"/>
                </a:solidFill>
                <a:latin typeface="MiSans Normal"/>
              </a:rPr>
              <a:t>Business Execution / Fundraising / Organization</a:t>
            </a:r>
          </a:p>
        </p:txBody>
      </p:sp>
      <p:sp>
        <p:nvSpPr>
          <p:cNvPr id="12" name="Card: 商業與驗證"/>
          <p:cNvSpPr/>
          <p:nvPr/>
        </p:nvSpPr>
        <p:spPr>
          <a:xfrm>
            <a:off x="6327648" y="1536192"/>
            <a:ext cx="2542032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8CFA8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</p:sp>
      <p:sp>
        <p:nvSpPr>
          <p:cNvPr id="13" name="Card title"/>
          <p:cNvSpPr/>
          <p:nvPr/>
        </p:nvSpPr>
        <p:spPr>
          <a:xfrm>
            <a:off x="6528816" y="2251467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CTO</a:t>
            </a:r>
            <a:endParaRPr lang="en-US" sz="17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4" name="Card body"/>
          <p:cNvSpPr/>
          <p:nvPr/>
        </p:nvSpPr>
        <p:spPr>
          <a:xfrm>
            <a:off x="6528816" y="2854971"/>
            <a:ext cx="2139696" cy="1449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1200"/>
              </a:spcAft>
              <a:buNone/>
            </a:pPr>
            <a:r>
              <a:rPr sz="1350" b="1">
                <a:solidFill>
                  <a:srgbClr val="0B5943"/>
                </a:solidFill>
                <a:latin typeface="MiSans Normal"/>
              </a:rPr>
              <a:t>姓名待補</a:t>
            </a:r>
            <a:endParaRPr lang="en-US" sz="122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101A16"/>
                </a:solidFill>
                <a:latin typeface="MiSans Normal"/>
              </a:rPr>
              <a:t>Architecture / Platform / AI &amp; Data / Security</a:t>
            </a:r>
          </a:p>
        </p:txBody>
      </p:sp>
      <p:sp>
        <p:nvSpPr>
          <p:cNvPr id="15" name="Card: 財務與模型"/>
          <p:cNvSpPr/>
          <p:nvPr/>
        </p:nvSpPr>
        <p:spPr>
          <a:xfrm>
            <a:off x="9208008" y="1536192"/>
            <a:ext cx="2542032" cy="3611880"/>
          </a:xfrm>
          <a:prstGeom prst="roundRect">
            <a:avLst/>
          </a:prstGeom>
          <a:solidFill>
            <a:srgbClr val="FDE9CE"/>
          </a:solidFill>
          <a:ln w="10160">
            <a:solidFill>
              <a:srgbClr val="F39A24"/>
            </a:solidFill>
            <a:prstDash val="solid"/>
          </a:ln>
          <a:effectLst>
            <a:outerShdw blurRad="20320" dist="50800" dir="2700000" algn="bl" rotWithShape="0">
              <a:srgbClr val="76837D">
                <a:alpha val="12000"/>
              </a:srgbClr>
            </a:outerShdw>
          </a:effectLst>
        </p:spPr>
      </p:sp>
      <p:sp>
        <p:nvSpPr>
          <p:cNvPr id="16" name="Card title"/>
          <p:cNvSpPr/>
          <p:nvPr/>
        </p:nvSpPr>
        <p:spPr>
          <a:xfrm>
            <a:off x="9409176" y="2251467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A85D55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CPO</a:t>
            </a:r>
            <a:endParaRPr lang="en-US" sz="17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7" name="Card body"/>
          <p:cNvSpPr/>
          <p:nvPr/>
        </p:nvSpPr>
        <p:spPr>
          <a:xfrm>
            <a:off x="9409176" y="2854971"/>
            <a:ext cx="2139696" cy="1449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1200"/>
              </a:spcAft>
              <a:buNone/>
            </a:pPr>
            <a:r>
              <a:rPr sz="1350" b="1">
                <a:solidFill>
                  <a:srgbClr val="0B5943"/>
                </a:solidFill>
                <a:latin typeface="MiSans Normal"/>
              </a:rPr>
              <a:t>姓名待補</a:t>
            </a:r>
            <a:endParaRPr lang="en-US" sz="122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101A16"/>
                </a:solidFill>
                <a:latin typeface="MiSans Normal"/>
              </a:rPr>
              <a:t>Product / UX / Marketplace / SaaS / Localization</a:t>
            </a:r>
          </a:p>
        </p:txBody>
      </p:sp>
      <p:sp>
        <p:nvSpPr>
          <p:cNvPr id="21" name="NeeDo wordmark">
            <a:extLst>
              <a:ext uri="{FF2B5EF4-FFF2-40B4-BE49-F238E27FC236}">
                <a16:creationId xmlns:a16="http://schemas.microsoft.com/office/drawing/2014/main" id="{4C26E2E1-0D79-AFEF-CD14-EECC5E40C893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22" name="Section label">
            <a:extLst>
              <a:ext uri="{FF2B5EF4-FFF2-40B4-BE49-F238E27FC236}">
                <a16:creationId xmlns:a16="http://schemas.microsoft.com/office/drawing/2014/main" id="{A506C49F-3F45-D41C-BFCB-28412622A094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erence-style 3D scene" descr="/Users/eason/Documents/New project/assets/needo-roadshow-reference-style/ecosystem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Page number"/>
          <p:cNvSpPr/>
          <p:nvPr/>
        </p:nvSpPr>
        <p:spPr>
          <a:xfrm>
            <a:off x="11137392" y="26517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</a:t>
            </a:r>
          </a:p>
        </p:txBody>
      </p:sp>
      <p:sp>
        <p:nvSpPr>
          <p:cNvPr id="6" name="Text 3"/>
          <p:cNvSpPr/>
          <p:nvPr/>
        </p:nvSpPr>
        <p:spPr>
          <a:xfrm>
            <a:off x="502920" y="973835"/>
            <a:ext cx="7810339" cy="23042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altLang="zh-CN" sz="3200" b="1" dirty="0" err="1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讓服務</a:t>
            </a:r>
            <a:endParaRPr lang="en-US" altLang="zh-CN" sz="3200" b="1" dirty="0">
              <a:solidFill>
                <a:srgbClr val="0B5943"/>
              </a:solidFill>
              <a:latin typeface="MiSans Heavy" pitchFamily="2" charset="-122"/>
              <a:ea typeface="MiSans Heavy" pitchFamily="2" charset="-122"/>
              <a:cs typeface="Arial Unicode MS" pitchFamily="34" charset="-120"/>
            </a:endParaRPr>
          </a:p>
          <a:p>
            <a:pPr marL="0" indent="0">
              <a:buNone/>
            </a:pPr>
            <a:r>
              <a:rPr lang="en-US" sz="3200" b="1" dirty="0" err="1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被看見、被選擇、被完成</a:t>
            </a:r>
            <a:endParaRPr lang="en-US" sz="3200" b="1" dirty="0">
              <a:solidFill>
                <a:srgbClr val="0B5943"/>
              </a:solidFill>
              <a:latin typeface="MiSans Heavy" pitchFamily="2" charset="-122"/>
              <a:ea typeface="MiSans Heavy" pitchFamily="2" charset="-122"/>
              <a:cs typeface="Arial Unicode MS" pitchFamily="34" charset="-120"/>
            </a:endParaRPr>
          </a:p>
          <a:p>
            <a:pPr marL="0" indent="0">
              <a:buNone/>
            </a:pPr>
            <a:endParaRPr lang="en-US" sz="3200" b="1" dirty="0">
              <a:solidFill>
                <a:srgbClr val="0B5943"/>
              </a:solidFill>
              <a:latin typeface="MiSans Heavy" pitchFamily="2" charset="-122"/>
              <a:ea typeface="MiSans Heavy" pitchFamily="2" charset="-122"/>
              <a:cs typeface="Arial Unicode MS" pitchFamily="34" charset="-120"/>
            </a:endParaRPr>
          </a:p>
          <a:p>
            <a:pPr marL="0" indent="0">
              <a:buNone/>
            </a:pPr>
            <a:r>
              <a:rPr lang="en-US" altLang="zh-CN" sz="3200" b="1" dirty="0" err="1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讓運營</a:t>
            </a:r>
            <a:endParaRPr lang="en-US" altLang="zh-CN" sz="3200" b="1" dirty="0">
              <a:solidFill>
                <a:srgbClr val="0B5943"/>
              </a:solidFill>
              <a:latin typeface="MiSans Heavy" pitchFamily="2" charset="-122"/>
              <a:ea typeface="MiSans Heavy" pitchFamily="2" charset="-122"/>
              <a:cs typeface="Arial Unicode MS" pitchFamily="34" charset="-120"/>
            </a:endParaRPr>
          </a:p>
          <a:p>
            <a:pPr marL="0" indent="0">
              <a:buNone/>
            </a:pPr>
            <a:r>
              <a:rPr lang="en-US" altLang="zh-CN" sz="3200" b="1" dirty="0" err="1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更智能</a:t>
            </a:r>
            <a:r>
              <a:rPr lang="zh-CN" altLang="en-US" sz="32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 Unicode MS" pitchFamily="34" charset="-120"/>
              </a:rPr>
              <a:t>，更簡單</a:t>
            </a:r>
            <a:endParaRPr lang="en-US" altLang="zh-CN" sz="3200" b="1" dirty="0">
              <a:solidFill>
                <a:srgbClr val="0B5943"/>
              </a:solidFill>
              <a:latin typeface="MiSans Heavy" pitchFamily="2" charset="-122"/>
              <a:ea typeface="MiSans Heavy" pitchFamily="2" charset="-122"/>
              <a:cs typeface="Arial Unicode MS" pitchFamily="34" charset="-120"/>
            </a:endParaRPr>
          </a:p>
        </p:txBody>
      </p:sp>
      <p:sp>
        <p:nvSpPr>
          <p:cNvPr id="16" name="Source note"/>
          <p:cNvSpPr/>
          <p:nvPr/>
        </p:nvSpPr>
        <p:spPr>
          <a:xfrm>
            <a:off x="502920" y="6556248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6736D"/>
                </a:solidFill>
                <a:latin typeface="MiSans Normal" pitchFamily="2" charset="-122"/>
                <a:ea typeface="MiSans Normal" pitchFamily="2" charset="-122"/>
                <a:cs typeface="Arial Unicode MS" pitchFamily="34" charset="-120"/>
              </a:rPr>
              <a:t>NeeDo｜僅供投資人討論｜聯絡方式與資料室內容以正式盡調文件為準</a:t>
            </a:r>
            <a:endParaRPr lang="en-US" sz="82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NeeDo wordmark">
            <a:extLst>
              <a:ext uri="{FF2B5EF4-FFF2-40B4-BE49-F238E27FC236}">
                <a16:creationId xmlns:a16="http://schemas.microsoft.com/office/drawing/2014/main" id="{FF11E26E-D8C4-5BB0-D6F0-4C6454CAD210}"/>
              </a:ext>
            </a:extLst>
          </p:cNvPr>
          <p:cNvSpPr/>
          <p:nvPr/>
        </p:nvSpPr>
        <p:spPr>
          <a:xfrm>
            <a:off x="50292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5943"/>
                </a:solidFill>
                <a:latin typeface="MiSans Heavy" pitchFamily="2" charset="-122"/>
                <a:ea typeface="MiSans Heavy" pitchFamily="2" charset="-122"/>
                <a:cs typeface="Arial" pitchFamily="34" charset="-120"/>
              </a:rPr>
              <a:t>NeeDo</a:t>
            </a:r>
            <a:endParaRPr lang="en-US" sz="1800" b="1" dirty="0">
              <a:latin typeface="MiSans Heavy" pitchFamily="2" charset="-122"/>
              <a:ea typeface="MiSans Heavy" pitchFamily="2" charset="-122"/>
            </a:endParaRPr>
          </a:p>
        </p:txBody>
      </p:sp>
      <p:sp>
        <p:nvSpPr>
          <p:cNvPr id="17" name="Section label">
            <a:extLst>
              <a:ext uri="{FF2B5EF4-FFF2-40B4-BE49-F238E27FC236}">
                <a16:creationId xmlns:a16="http://schemas.microsoft.com/office/drawing/2014/main" id="{58AFB12A-2230-2CFB-C76A-77B337177F24}"/>
              </a:ext>
            </a:extLst>
          </p:cNvPr>
          <p:cNvSpPr/>
          <p:nvPr/>
        </p:nvSpPr>
        <p:spPr>
          <a:xfrm>
            <a:off x="1446503" y="3108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E8B62"/>
                </a:solidFill>
                <a:latin typeface="MaokenAssortedSans" panose="020B0603060000000000" pitchFamily="34" charset="-122"/>
                <a:ea typeface="MaokenAssortedSans" panose="020B0603060000000000" pitchFamily="34" charset="-122"/>
                <a:cs typeface="MaokenAssortedSans" panose="020B0603060000000000" pitchFamily="34" charset="-122"/>
              </a:rPr>
              <a:t>You Need , We Do</a:t>
            </a:r>
            <a:endParaRPr lang="en-US" sz="880" b="1" dirty="0">
              <a:latin typeface="MaokenAssortedSans" panose="020B0603060000000000" pitchFamily="34" charset="-122"/>
              <a:ea typeface="MaokenAssortedSans" panose="020B0603060000000000" pitchFamily="34" charset="-122"/>
              <a:cs typeface="MaokenAssortedSans" panose="020B0603060000000000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2818</Words>
  <Application>Microsoft Macintosh PowerPoint</Application>
  <PresentationFormat>宽屏</PresentationFormat>
  <Paragraphs>747</Paragraphs>
  <Slides>34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等线</vt:lpstr>
      <vt:lpstr>Arial Unicode MS</vt:lpstr>
      <vt:lpstr>MaokenAssortedSans</vt:lpstr>
      <vt:lpstr>MiSans Heavy</vt:lpstr>
      <vt:lpstr>MiSans Normal</vt:lpstr>
      <vt:lpstr>MiSans Semibold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LifeDance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NeeDo 海外投資人 Pre-A 融資簡報｜投資人精簡優化美術重製版</dc:title>
  <dc:subject>20-page investor edition rebuilt with original NeeDo art direction</dc:subject>
  <dc:creator>LifeDance Co., Ltd.</dc:creator>
  <cp:lastModifiedBy>Eason</cp:lastModifiedBy>
  <cp:revision>16</cp:revision>
  <dcterms:created xsi:type="dcterms:W3CDTF">2026-08-23T09:32:25Z</dcterms:created>
  <dcterms:modified xsi:type="dcterms:W3CDTF">2026-08-24T17:26:58Z</dcterms:modified>
  <dc:description>Generated from two user-provided source decks without overwriting either source.</dc:description>
</cp:coreProperties>
</file>